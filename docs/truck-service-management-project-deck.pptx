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>
            <a:extLst>
              <a:ext uri="{FF2B5EF4-FFF2-40B4-BE49-F238E27FC236}">
                <a16:creationId xmlns:a16="http://schemas.microsoft.com/office/drawing/2014/main" id="{85E193C9-43D9-491E-8917-EAD25ED71D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6AB6F-C1C6-4DB8-9577-B187A121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F725F-850B-4D80-93B6-B3093552DF49}"/>
              </a:ext>
            </a:extLst>
          </p:cNvPr>
          <p:cNvSpPr>
            <a:spLocks noGrp="1"/>
          </p:cNvSpPr>
          <p:nvPr/>
        </p:nvSpPr>
        <p:spPr>
          <a:xfrm>
            <a:off x="8667750" y="0"/>
            <a:ext cx="3524250" cy="6858000"/>
          </a:xfrm>
          <a:prstGeom prst="rect">
            <a:avLst/>
          </a:prstGeom>
          <a:solidFill>
            <a:srgbClr val="1C2528"/>
          </a:solidFill>
          <a:ln w="0">
            <a:solidFill>
              <a:srgbClr val="1C252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626F7-11B2-4C6D-A2D4-0F1D9FB2E28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363200" cy="9525"/>
          </a:xfrm>
          <a:prstGeom prst="rect">
            <a:avLst/>
          </a:prstGeom>
          <a:solidFill>
            <a:srgbClr val="3F4A48"/>
          </a:solidFill>
          <a:ln w="0">
            <a:solidFill>
              <a:srgbClr val="3F4A48"/>
            </a:solidFill>
            <a:prstDash val="solid"/>
          </a:ln>
        </p:spPr>
      </p:sp>
      <p:sp>
        <p:nvSpPr>
          <p:cNvPr id="5" name="kicker-cover-marker">
            <a:extLst>
              <a:ext uri="{FF2B5EF4-FFF2-40B4-BE49-F238E27FC236}">
                <a16:creationId xmlns:a16="http://schemas.microsoft.com/office/drawing/2014/main" id="{EB8D540A-ED78-4039-92C7-552DF4EF45E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6" name="kicker-cover-label">
            <a:extLst>
              <a:ext uri="{FF2B5EF4-FFF2-40B4-BE49-F238E27FC236}">
                <a16:creationId xmlns:a16="http://schemas.microsoft.com/office/drawing/2014/main" id="{1BC7257A-3968-4DD9-A33E-3E0957046A27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C6FB7-E157-4DB7-A7FA-458FF952F730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7239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Paper workflows are becoming one controlled service desk.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2409A-2595-43CB-8331-1CD1E589AA59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Truck Service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90BE5-2E74-45E4-9A33-28E447BC402E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619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FD6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D6D2"/>
                </a:solidFill>
                <a:latin typeface="Aptos"/>
                <a:ea typeface="Aptos"/>
                <a:cs typeface="Aptos"/>
              </a:rPr>
              <a:t>A full-stack internal tool for stock, finance, attendance, and appointments in a truck service business.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78F6-9EE7-4977-9D2C-69CC9FC45151}"/>
              </a:ext>
            </a:extLst>
          </p:cNvPr>
          <p:cNvSpPr>
            <a:spLocks noGrp="1"/>
          </p:cNvSpPr>
          <p:nvPr/>
        </p:nvSpPr>
        <p:spPr>
          <a:xfrm>
            <a:off x="8953500" y="876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2BAD94-ECD0-49EE-B9B2-DF37388AA6AB}"/>
              </a:ext>
            </a:extLst>
          </p:cNvPr>
          <p:cNvSpPr>
            <a:spLocks noGrp="1"/>
          </p:cNvSpPr>
          <p:nvPr/>
        </p:nvSpPr>
        <p:spPr>
          <a:xfrm>
            <a:off x="8953500" y="1257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active operating modules in the web app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68275E-4461-42A4-A345-CBA7F7006CED}"/>
              </a:ext>
            </a:extLst>
          </p:cNvPr>
          <p:cNvSpPr>
            <a:spLocks noGrp="1"/>
          </p:cNvSpPr>
          <p:nvPr/>
        </p:nvSpPr>
        <p:spPr>
          <a:xfrm>
            <a:off x="8953500" y="1657350"/>
            <a:ext cx="2266950" cy="9525"/>
          </a:xfrm>
          <a:prstGeom prst="rect">
            <a:avLst/>
          </a:prstGeom>
          <a:solidFill>
            <a:srgbClr val="3F4A48"/>
          </a:solidFill>
          <a:ln w="0">
            <a:solidFill>
              <a:srgbClr val="3F4A4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17DF01-4EA2-4808-AD33-B83C72B3E213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FB358-FD3C-419A-84C6-1057BA87C07F}"/>
              </a:ext>
            </a:extLst>
          </p:cNvPr>
          <p:cNvSpPr>
            <a:spLocks noGrp="1"/>
          </p:cNvSpPr>
          <p:nvPr/>
        </p:nvSpPr>
        <p:spPr>
          <a:xfrm>
            <a:off x="8953500" y="23431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mounted backend route families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825595-2DD9-4E69-9A07-398C3CC8B3C6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2266950" cy="9525"/>
          </a:xfrm>
          <a:prstGeom prst="rect">
            <a:avLst/>
          </a:prstGeom>
          <a:solidFill>
            <a:srgbClr val="3F4A48"/>
          </a:solidFill>
          <a:ln w="0">
            <a:solidFill>
              <a:srgbClr val="3F4A4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30D34C-BC45-456C-B45A-23C99A62768E}"/>
              </a:ext>
            </a:extLst>
          </p:cNvPr>
          <p:cNvSpPr>
            <a:spLocks noGrp="1"/>
          </p:cNvSpPr>
          <p:nvPr/>
        </p:nvSpPr>
        <p:spPr>
          <a:xfrm>
            <a:off x="8953500" y="30480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7D1F6-804C-4B72-A856-12278729B3FC}"/>
              </a:ext>
            </a:extLst>
          </p:cNvPr>
          <p:cNvSpPr>
            <a:spLocks noGrp="1"/>
          </p:cNvSpPr>
          <p:nvPr/>
        </p:nvSpPr>
        <p:spPr>
          <a:xfrm>
            <a:off x="8953500" y="34290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PostgreSQL domain tables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DC6470-EA58-4CA5-A020-30E5654D5D70}"/>
              </a:ext>
            </a:extLst>
          </p:cNvPr>
          <p:cNvSpPr>
            <a:spLocks noGrp="1"/>
          </p:cNvSpPr>
          <p:nvPr/>
        </p:nvSpPr>
        <p:spPr>
          <a:xfrm>
            <a:off x="8953500" y="3829050"/>
            <a:ext cx="2266950" cy="9525"/>
          </a:xfrm>
          <a:prstGeom prst="rect">
            <a:avLst/>
          </a:prstGeom>
          <a:solidFill>
            <a:srgbClr val="3F4A48"/>
          </a:solidFill>
          <a:ln w="0">
            <a:solidFill>
              <a:srgbClr val="3F4A4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25F4ED-CA4C-4D48-B36A-E9A3C3A2D0B0}"/>
              </a:ext>
            </a:extLst>
          </p:cNvPr>
          <p:cNvSpPr>
            <a:spLocks noGrp="1"/>
          </p:cNvSpPr>
          <p:nvPr/>
        </p:nvSpPr>
        <p:spPr>
          <a:xfrm>
            <a:off x="8953500" y="41338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DE8C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DE8C8"/>
                </a:solidFill>
                <a:latin typeface="Aptos Display"/>
                <a:ea typeface="Aptos Display"/>
                <a:cs typeface="Aptos Display"/>
              </a:rPr>
              <a:t>13/13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31758B-38A3-410C-8569-9428C14F1E7E}"/>
              </a:ext>
            </a:extLst>
          </p:cNvPr>
          <p:cNvSpPr>
            <a:spLocks noGrp="1"/>
          </p:cNvSpPr>
          <p:nvPr/>
        </p:nvSpPr>
        <p:spPr>
          <a:xfrm>
            <a:off x="8953500" y="45148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backend tests passing locally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558EDA-1739-415C-B2EA-DB0AC551911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524000" cy="457200"/>
          </a:xfrm>
          <a:prstGeom prst="rect">
            <a:avLst/>
          </a:prstGeom>
          <a:solidFill>
            <a:srgbClr val="243034"/>
          </a:solidFill>
          <a:ln w="9525">
            <a:solidFill>
              <a:srgbClr val="56625F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login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760853-28D9-4EFC-B42D-29B8ED83DC6A}"/>
              </a:ext>
            </a:extLst>
          </p:cNvPr>
          <p:cNvSpPr>
            <a:spLocks noGrp="1"/>
          </p:cNvSpPr>
          <p:nvPr/>
        </p:nvSpPr>
        <p:spPr>
          <a:xfrm>
            <a:off x="2133600" y="5991225"/>
            <a:ext cx="552450" cy="28575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F2B09A-0061-459D-AB56-8938DFCA73BD}"/>
              </a:ext>
            </a:extLst>
          </p:cNvPr>
          <p:cNvSpPr>
            <a:spLocks noGrp="1"/>
          </p:cNvSpPr>
          <p:nvPr/>
        </p:nvSpPr>
        <p:spPr>
          <a:xfrm>
            <a:off x="2686050" y="5772150"/>
            <a:ext cx="1428750" cy="457200"/>
          </a:xfrm>
          <a:prstGeom prst="rect">
            <a:avLst/>
          </a:prstGeom>
          <a:solidFill>
            <a:srgbClr val="243034"/>
          </a:solidFill>
          <a:ln w="9525">
            <a:solidFill>
              <a:srgbClr val="56625F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428710-2D6A-4857-8EDC-4BBF0357B77A}"/>
              </a:ext>
            </a:extLst>
          </p:cNvPr>
          <p:cNvSpPr>
            <a:spLocks noGrp="1"/>
          </p:cNvSpPr>
          <p:nvPr/>
        </p:nvSpPr>
        <p:spPr>
          <a:xfrm>
            <a:off x="4114800" y="5991225"/>
            <a:ext cx="552450" cy="28575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786277-7086-4399-B91F-02B66409E926}"/>
              </a:ext>
            </a:extLst>
          </p:cNvPr>
          <p:cNvSpPr>
            <a:spLocks noGrp="1"/>
          </p:cNvSpPr>
          <p:nvPr/>
        </p:nvSpPr>
        <p:spPr>
          <a:xfrm>
            <a:off x="4667250" y="5772150"/>
            <a:ext cx="2076450" cy="457200"/>
          </a:xfrm>
          <a:prstGeom prst="rect">
            <a:avLst/>
          </a:prstGeom>
          <a:solidFill>
            <a:srgbClr val="D9922B"/>
          </a:solidFill>
          <a:ln w="9525">
            <a:solidFill>
              <a:srgbClr val="D9922B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 CRUD + alerts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3DED62-6021-453C-AA7F-D95F1AE1EB29}"/>
              </a:ext>
            </a:extLst>
          </p:cNvPr>
          <p:cNvSpPr>
            <a:spLocks noGrp="1"/>
          </p:cNvSpPr>
          <p:nvPr/>
        </p:nvSpPr>
        <p:spPr>
          <a:xfrm>
            <a:off x="6743700" y="5991225"/>
            <a:ext cx="552450" cy="19050"/>
          </a:xfrm>
          <a:prstGeom prst="rect">
            <a:avLst/>
          </a:prstGeom>
          <a:solidFill>
            <a:srgbClr val="56625F"/>
          </a:solidFill>
          <a:ln w="0">
            <a:solidFill>
              <a:srgbClr val="56625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014847-0DF1-4734-8247-18C4BBE7C0A8}"/>
              </a:ext>
            </a:extLst>
          </p:cNvPr>
          <p:cNvSpPr>
            <a:spLocks noGrp="1"/>
          </p:cNvSpPr>
          <p:nvPr/>
        </p:nvSpPr>
        <p:spPr>
          <a:xfrm>
            <a:off x="7296150" y="5772150"/>
            <a:ext cx="1162050" cy="457200"/>
          </a:xfrm>
          <a:prstGeom prst="rect">
            <a:avLst/>
          </a:prstGeom>
          <a:solidFill>
            <a:srgbClr val="243034"/>
          </a:solidFill>
          <a:ln w="9525">
            <a:solidFill>
              <a:srgbClr val="56625F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BABF59-7E0F-4586-9E93-FDC8894DE1A7}"/>
              </a:ext>
            </a:extLst>
          </p:cNvPr>
          <p:cNvSpPr>
            <a:spLocks noGrp="1"/>
          </p:cNvSpPr>
          <p:nvPr/>
        </p:nvSpPr>
        <p:spPr>
          <a:xfrm>
            <a:off x="8591550" y="5772150"/>
            <a:ext cx="1371600" cy="457200"/>
          </a:xfrm>
          <a:prstGeom prst="rect">
            <a:avLst/>
          </a:prstGeom>
          <a:solidFill>
            <a:srgbClr val="243034"/>
          </a:solidFill>
          <a:ln w="9525">
            <a:solidFill>
              <a:srgbClr val="56625F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0776C2-55A8-44AC-9E69-F70FB6CDAF09}"/>
              </a:ext>
            </a:extLst>
          </p:cNvPr>
          <p:cNvSpPr>
            <a:spLocks noGrp="1"/>
          </p:cNvSpPr>
          <p:nvPr/>
        </p:nvSpPr>
        <p:spPr>
          <a:xfrm>
            <a:off x="10096500" y="5772150"/>
            <a:ext cx="1485900" cy="457200"/>
          </a:xfrm>
          <a:prstGeom prst="rect">
            <a:avLst/>
          </a:prstGeom>
          <a:solidFill>
            <a:srgbClr val="243034"/>
          </a:solidFill>
          <a:ln w="9525">
            <a:solidFill>
              <a:srgbClr val="56625F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Appointments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AE6D4-8A04-4549-AC34-FA10B791247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FC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C7C4"/>
                </a:solidFill>
                <a:latin typeface="Aptos"/>
                <a:ea typeface="Aptos"/>
                <a:cs typeface="Aptos"/>
              </a:rPr>
              <a:t>Source: repository README, current routes, schema, and local test run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9AB3B1-A07B-45C0-876B-78C7A322667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BFC7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7C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474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ckground">
            <a:extLst>
              <a:ext uri="{FF2B5EF4-FFF2-40B4-BE49-F238E27FC236}">
                <a16:creationId xmlns:a16="http://schemas.microsoft.com/office/drawing/2014/main" id="{DB0A0517-B345-4638-A9F5-5ED2F2EBA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pain-marker">
            <a:extLst>
              <a:ext uri="{FF2B5EF4-FFF2-40B4-BE49-F238E27FC236}">
                <a16:creationId xmlns:a16="http://schemas.microsoft.com/office/drawing/2014/main" id="{145ABAB1-4411-4C8F-A4CA-705B541DBCF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C94A38"/>
          </a:solidFill>
          <a:ln w="0">
            <a:solidFill>
              <a:srgbClr val="C94A38"/>
            </a:solidFill>
            <a:prstDash val="solid"/>
          </a:ln>
        </p:spPr>
      </p:sp>
      <p:sp>
        <p:nvSpPr>
          <p:cNvPr id="3" name="kicker-pain-label">
            <a:extLst>
              <a:ext uri="{FF2B5EF4-FFF2-40B4-BE49-F238E27FC236}">
                <a16:creationId xmlns:a16="http://schemas.microsoft.com/office/drawing/2014/main" id="{70649CB8-7304-4BB5-8B74-B58AEED949AF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OPERATING PAIN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47072-2540-4E19-BC26-C037EECCB1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382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real problem is scattered daily decisions, not just missing software.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67698-D16B-4172-BE2C-41326E29A63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Small service businesses lose time when spare parts, attendance, income, expenses, and appointments live in separate notes or files.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35C5F-B842-492E-81F2-3B9A6BA7D7C7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4A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4A38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4D7CE-CCFA-4A4C-81D3-8F8967B43F2A}"/>
              </a:ext>
            </a:extLst>
          </p:cNvPr>
          <p:cNvSpPr>
            <a:spLocks noGrp="1"/>
          </p:cNvSpPr>
          <p:nvPr/>
        </p:nvSpPr>
        <p:spPr>
          <a:xfrm>
            <a:off x="7029450" y="2476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C9A8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C9A8E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03078-F0E8-4C09-A6ED-C74F9A675372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C5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Parts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45CC76-0D3F-4687-A672-59A77EEEBD61}"/>
              </a:ext>
            </a:extLst>
          </p:cNvPr>
          <p:cNvSpPr>
            <a:spLocks noGrp="1"/>
          </p:cNvSpPr>
          <p:nvPr/>
        </p:nvSpPr>
        <p:spPr>
          <a:xfrm>
            <a:off x="2381250" y="30575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manual lookup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951FED-3459-4898-B55A-A674AD9450DA}"/>
              </a:ext>
            </a:extLst>
          </p:cNvPr>
          <p:cNvSpPr>
            <a:spLocks noGrp="1"/>
          </p:cNvSpPr>
          <p:nvPr/>
        </p:nvSpPr>
        <p:spPr>
          <a:xfrm>
            <a:off x="4514850" y="3162300"/>
            <a:ext cx="762000" cy="19050"/>
          </a:xfrm>
          <a:prstGeom prst="rect">
            <a:avLst/>
          </a:prstGeom>
          <a:solidFill>
            <a:srgbClr val="D8C6B0"/>
          </a:solidFill>
          <a:ln w="0">
            <a:solidFill>
              <a:srgbClr val="D8C6B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59629-7899-49FF-8B80-E181E55C8DEF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C5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Cash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FC8208-D7B8-43CC-B3D0-F16BB7BDDC27}"/>
              </a:ext>
            </a:extLst>
          </p:cNvPr>
          <p:cNvSpPr>
            <a:spLocks noGrp="1"/>
          </p:cNvSpPr>
          <p:nvPr/>
        </p:nvSpPr>
        <p:spPr>
          <a:xfrm>
            <a:off x="2381250" y="37433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separate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136F8-A2E4-45F4-80F9-4CED8660F2CF}"/>
              </a:ext>
            </a:extLst>
          </p:cNvPr>
          <p:cNvSpPr>
            <a:spLocks noGrp="1"/>
          </p:cNvSpPr>
          <p:nvPr/>
        </p:nvSpPr>
        <p:spPr>
          <a:xfrm>
            <a:off x="4514850" y="3848100"/>
            <a:ext cx="762000" cy="19050"/>
          </a:xfrm>
          <a:prstGeom prst="rect">
            <a:avLst/>
          </a:prstGeom>
          <a:solidFill>
            <a:srgbClr val="D8C6B0"/>
          </a:solidFill>
          <a:ln w="0">
            <a:solidFill>
              <a:srgbClr val="D8C6B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42D602-FB1C-410B-B94C-0927FC0FA36D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C5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0467DC-5AC4-4AFC-8121-80CC2D55C7DA}"/>
              </a:ext>
            </a:extLst>
          </p:cNvPr>
          <p:cNvSpPr>
            <a:spLocks noGrp="1"/>
          </p:cNvSpPr>
          <p:nvPr/>
        </p:nvSpPr>
        <p:spPr>
          <a:xfrm>
            <a:off x="2381250" y="44291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paper attendance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0847A9-2B97-4C33-BA2B-F9436FC1ABDA}"/>
              </a:ext>
            </a:extLst>
          </p:cNvPr>
          <p:cNvSpPr>
            <a:spLocks noGrp="1"/>
          </p:cNvSpPr>
          <p:nvPr/>
        </p:nvSpPr>
        <p:spPr>
          <a:xfrm>
            <a:off x="4514850" y="4533900"/>
            <a:ext cx="762000" cy="19050"/>
          </a:xfrm>
          <a:prstGeom prst="rect">
            <a:avLst/>
          </a:prstGeom>
          <a:solidFill>
            <a:srgbClr val="D8C6B0"/>
          </a:solidFill>
          <a:ln w="0">
            <a:solidFill>
              <a:srgbClr val="D8C6B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BD798-D2AB-483D-A487-6BEE5D8F6BF3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C5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Jobs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137100-EEC3-459F-BA08-5860551F33A3}"/>
              </a:ext>
            </a:extLst>
          </p:cNvPr>
          <p:cNvSpPr>
            <a:spLocks noGrp="1"/>
          </p:cNvSpPr>
          <p:nvPr/>
        </p:nvSpPr>
        <p:spPr>
          <a:xfrm>
            <a:off x="2381250" y="51149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memory-based schedule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4101E9-EDC6-4022-99E5-EA6CBEBD9F56}"/>
              </a:ext>
            </a:extLst>
          </p:cNvPr>
          <p:cNvSpPr>
            <a:spLocks noGrp="1"/>
          </p:cNvSpPr>
          <p:nvPr/>
        </p:nvSpPr>
        <p:spPr>
          <a:xfrm>
            <a:off x="4514850" y="5219700"/>
            <a:ext cx="762000" cy="19050"/>
          </a:xfrm>
          <a:prstGeom prst="rect">
            <a:avLst/>
          </a:prstGeom>
          <a:solidFill>
            <a:srgbClr val="D8C6B0"/>
          </a:solidFill>
          <a:ln w="0">
            <a:solidFill>
              <a:srgbClr val="D8C6B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3CAF1-C27E-4ADC-8C81-CE01435C2C90}"/>
              </a:ext>
            </a:extLst>
          </p:cNvPr>
          <p:cNvSpPr>
            <a:spLocks noGrp="1"/>
          </p:cNvSpPr>
          <p:nvPr/>
        </p:nvSpPr>
        <p:spPr>
          <a:xfrm>
            <a:off x="5276850" y="3028950"/>
            <a:ext cx="1200150" cy="2419350"/>
          </a:xfrm>
          <a:prstGeom prst="rect">
            <a:avLst/>
          </a:prstGeom>
          <a:solidFill>
            <a:srgbClr val="202B2D"/>
          </a:solidFill>
          <a:ln w="0">
            <a:solidFill>
              <a:srgbClr val="202B2D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036222-3B3A-4453-90F9-EC6B730BAF6F}"/>
              </a:ext>
            </a:extLst>
          </p:cNvPr>
          <p:cNvSpPr>
            <a:spLocks noGrp="1"/>
          </p:cNvSpPr>
          <p:nvPr/>
        </p:nvSpPr>
        <p:spPr>
          <a:xfrm>
            <a:off x="5410200" y="3486150"/>
            <a:ext cx="9334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protected</a:t>
            </a:r>
          </a:p>
          <a:p>
            <a:pPr algn="ctr">
              <a:def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service</a:t>
            </a:r>
          </a:p>
          <a:p>
            <a:pPr algn="ctr">
              <a:def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app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1E8D3D-C56B-443A-8C52-94EF7429F0BC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552450" cy="190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AEC59-6531-487E-BD89-3A777F556F17}"/>
              </a:ext>
            </a:extLst>
          </p:cNvPr>
          <p:cNvSpPr>
            <a:spLocks noGrp="1"/>
          </p:cNvSpPr>
          <p:nvPr/>
        </p:nvSpPr>
        <p:spPr>
          <a:xfrm>
            <a:off x="7143750" y="2952750"/>
            <a:ext cx="1581150" cy="438150"/>
          </a:xfrm>
          <a:prstGeom prst="rect">
            <a:avLst/>
          </a:prstGeom>
          <a:solidFill>
            <a:srgbClr val="DDEDEA"/>
          </a:solidFill>
          <a:ln w="9525">
            <a:solidFill>
              <a:srgbClr val="2C9A8E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BBB0BC-89B5-492E-A315-5519CC54C921}"/>
              </a:ext>
            </a:extLst>
          </p:cNvPr>
          <p:cNvSpPr>
            <a:spLocks noGrp="1"/>
          </p:cNvSpPr>
          <p:nvPr/>
        </p:nvSpPr>
        <p:spPr>
          <a:xfrm>
            <a:off x="8877300" y="30575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search, CRUD, low-stock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F1936-CD6D-47B0-A2FD-5C2A160774D8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552450" cy="190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DADB72-1582-4FDF-B02C-53C66829AD84}"/>
              </a:ext>
            </a:extLst>
          </p:cNvPr>
          <p:cNvSpPr>
            <a:spLocks noGrp="1"/>
          </p:cNvSpPr>
          <p:nvPr/>
        </p:nvSpPr>
        <p:spPr>
          <a:xfrm>
            <a:off x="7143750" y="3638550"/>
            <a:ext cx="1581150" cy="438150"/>
          </a:xfrm>
          <a:prstGeom prst="rect">
            <a:avLst/>
          </a:prstGeom>
          <a:solidFill>
            <a:srgbClr val="DDEDEA"/>
          </a:solidFill>
          <a:ln w="9525">
            <a:solidFill>
              <a:srgbClr val="2C9A8E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ADDFB9-000A-43F6-93E4-4038AF9D4F8E}"/>
              </a:ext>
            </a:extLst>
          </p:cNvPr>
          <p:cNvSpPr>
            <a:spLocks noGrp="1"/>
          </p:cNvSpPr>
          <p:nvPr/>
        </p:nvSpPr>
        <p:spPr>
          <a:xfrm>
            <a:off x="8877300" y="37433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income and expense flow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7CCF65-8530-483A-8E10-8C5B6F8B6F51}"/>
              </a:ext>
            </a:extLst>
          </p:cNvPr>
          <p:cNvSpPr>
            <a:spLocks noGrp="1"/>
          </p:cNvSpPr>
          <p:nvPr/>
        </p:nvSpPr>
        <p:spPr>
          <a:xfrm>
            <a:off x="6477000" y="4533900"/>
            <a:ext cx="552450" cy="190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5415B5-AEF3-43B5-9F77-CA31D3D74B46}"/>
              </a:ext>
            </a:extLst>
          </p:cNvPr>
          <p:cNvSpPr>
            <a:spLocks noGrp="1"/>
          </p:cNvSpPr>
          <p:nvPr/>
        </p:nvSpPr>
        <p:spPr>
          <a:xfrm>
            <a:off x="7143750" y="4324350"/>
            <a:ext cx="1581150" cy="438150"/>
          </a:xfrm>
          <a:prstGeom prst="rect">
            <a:avLst/>
          </a:prstGeom>
          <a:solidFill>
            <a:srgbClr val="DDEDEA"/>
          </a:solidFill>
          <a:ln w="9525">
            <a:solidFill>
              <a:srgbClr val="2C9A8E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72D68B-B8D0-4ABB-8514-D1F6AA6AEB1C}"/>
              </a:ext>
            </a:extLst>
          </p:cNvPr>
          <p:cNvSpPr>
            <a:spLocks noGrp="1"/>
          </p:cNvSpPr>
          <p:nvPr/>
        </p:nvSpPr>
        <p:spPr>
          <a:xfrm>
            <a:off x="8877300" y="44291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check-in and check-out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41B81F-3AA1-4260-8FD6-5A5967CD94BE}"/>
              </a:ext>
            </a:extLst>
          </p:cNvPr>
          <p:cNvSpPr>
            <a:spLocks noGrp="1"/>
          </p:cNvSpPr>
          <p:nvPr/>
        </p:nvSpPr>
        <p:spPr>
          <a:xfrm>
            <a:off x="6477000" y="5219700"/>
            <a:ext cx="552450" cy="190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ED340B-A3BB-4F4A-AC94-02B8F45BE8F2}"/>
              </a:ext>
            </a:extLst>
          </p:cNvPr>
          <p:cNvSpPr>
            <a:spLocks noGrp="1"/>
          </p:cNvSpPr>
          <p:nvPr/>
        </p:nvSpPr>
        <p:spPr>
          <a:xfrm>
            <a:off x="7143750" y="5010150"/>
            <a:ext cx="1581150" cy="438150"/>
          </a:xfrm>
          <a:prstGeom prst="rect">
            <a:avLst/>
          </a:prstGeom>
          <a:solidFill>
            <a:srgbClr val="DDEDEA"/>
          </a:solidFill>
          <a:ln w="9525">
            <a:solidFill>
              <a:srgbClr val="2C9A8E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Appointments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586843-17F8-458F-99AC-A1DF4CB2E2BA}"/>
              </a:ext>
            </a:extLst>
          </p:cNvPr>
          <p:cNvSpPr>
            <a:spLocks noGrp="1"/>
          </p:cNvSpPr>
          <p:nvPr/>
        </p:nvSpPr>
        <p:spPr>
          <a:xfrm>
            <a:off x="8877300" y="51149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client, truck, date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41084-AD5C-4C08-8C8C-7D299C752020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3632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19DDD6-F7A3-4E58-A479-0439EBA32861}"/>
              </a:ext>
            </a:extLst>
          </p:cNvPr>
          <p:cNvSpPr>
            <a:spLocks noGrp="1"/>
          </p:cNvSpPr>
          <p:nvPr/>
        </p:nvSpPr>
        <p:spPr>
          <a:xfrm>
            <a:off x="800100" y="6076950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Project value: fewer manual mistakes, faster lookup, earlier low-stock action, and cleaner records for future reporting.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61943B-CE1C-4EC2-B4A2-7A787B8876C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README business problem and module descriptions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65498A-BCD7-4497-8DD0-21B34329D51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187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ackground">
            <a:extLst>
              <a:ext uri="{FF2B5EF4-FFF2-40B4-BE49-F238E27FC236}">
                <a16:creationId xmlns:a16="http://schemas.microsoft.com/office/drawing/2014/main" id="{6711A6DF-952D-49DF-92FB-AEF9189985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flow-marker">
            <a:extLst>
              <a:ext uri="{FF2B5EF4-FFF2-40B4-BE49-F238E27FC236}">
                <a16:creationId xmlns:a16="http://schemas.microsoft.com/office/drawing/2014/main" id="{097EBDE1-4328-4342-AB2C-B60E0C59BA8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3" name="kicker-flow-label">
            <a:extLst>
              <a:ext uri="{FF2B5EF4-FFF2-40B4-BE49-F238E27FC236}">
                <a16:creationId xmlns:a16="http://schemas.microsoft.com/office/drawing/2014/main" id="{A023060D-F285-40F3-9927-DB0E6DD2A02F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PRODUCT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C19E7-EF7C-4B81-9501-9976C06D4A4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01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Phase 1 proves the admin path end-to-end through stock.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17ACC-B2FA-47D7-9B9F-8874C1D273E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14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The current browser product starts with the path that already has business rules, validation, summary data, and immediate value.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975FD-E6E7-4910-A572-5FE5553468B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2098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1E12A2-DB0D-440E-B090-8EAC51FBD77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61950" cy="87630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0C733-985D-45D6-92E1-C1912DDFFE94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F224C5-4E34-4613-B4A0-61C878FBB6CA}"/>
              </a:ext>
            </a:extLst>
          </p:cNvPr>
          <p:cNvSpPr>
            <a:spLocks noGrp="1"/>
          </p:cNvSpPr>
          <p:nvPr/>
        </p:nvSpPr>
        <p:spPr>
          <a:xfrm>
            <a:off x="1104900" y="27051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Admin login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716519-A3A5-4955-BA43-371FEA79A3AD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JWT session starts the protected workflow.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0C4319-FDB1-4435-B213-88B480E72C3E}"/>
              </a:ext>
            </a:extLst>
          </p:cNvPr>
          <p:cNvSpPr>
            <a:spLocks noGrp="1"/>
          </p:cNvSpPr>
          <p:nvPr/>
        </p:nvSpPr>
        <p:spPr>
          <a:xfrm>
            <a:off x="2819400" y="3009900"/>
            <a:ext cx="3238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66BC4-7F53-4FB1-95B1-6B0579487092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24193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CA16BB-3394-4071-9D51-D440207102EF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361950" cy="87630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5A7A1-3DC7-44F9-9F38-B723485785C5}"/>
              </a:ext>
            </a:extLst>
          </p:cNvPr>
          <p:cNvSpPr>
            <a:spLocks noGrp="1"/>
          </p:cNvSpPr>
          <p:nvPr/>
        </p:nvSpPr>
        <p:spPr>
          <a:xfrm>
            <a:off x="3143250" y="27051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058C61-CB59-48C1-AD16-5DA45BC39303}"/>
              </a:ext>
            </a:extLst>
          </p:cNvPr>
          <p:cNvSpPr>
            <a:spLocks noGrp="1"/>
          </p:cNvSpPr>
          <p:nvPr/>
        </p:nvSpPr>
        <p:spPr>
          <a:xfrm>
            <a:off x="3638550" y="27051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Dashboard shell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7678D-458B-47A2-A18A-0857F007CF79}"/>
              </a:ext>
            </a:extLst>
          </p:cNvPr>
          <p:cNvSpPr>
            <a:spLocks noGrp="1"/>
          </p:cNvSpPr>
          <p:nvPr/>
        </p:nvSpPr>
        <p:spPr>
          <a:xfrm>
            <a:off x="3638550" y="29718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ProtectedRoute and AppLayout organize the modules.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FA314-364A-419A-AEAE-3F4934EFB5DC}"/>
              </a:ext>
            </a:extLst>
          </p:cNvPr>
          <p:cNvSpPr>
            <a:spLocks noGrp="1"/>
          </p:cNvSpPr>
          <p:nvPr/>
        </p:nvSpPr>
        <p:spPr>
          <a:xfrm>
            <a:off x="5562600" y="3009900"/>
            <a:ext cx="3238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D18A91-1060-4AC0-AE38-93F95C2560A0}"/>
              </a:ext>
            </a:extLst>
          </p:cNvPr>
          <p:cNvSpPr>
            <a:spLocks noGrp="1"/>
          </p:cNvSpPr>
          <p:nvPr/>
        </p:nvSpPr>
        <p:spPr>
          <a:xfrm>
            <a:off x="5886450" y="2571750"/>
            <a:ext cx="26860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61B3D-4D05-4C8F-92E5-4B036D9C2324}"/>
              </a:ext>
            </a:extLst>
          </p:cNvPr>
          <p:cNvSpPr>
            <a:spLocks noGrp="1"/>
          </p:cNvSpPr>
          <p:nvPr/>
        </p:nvSpPr>
        <p:spPr>
          <a:xfrm>
            <a:off x="5886450" y="2571750"/>
            <a:ext cx="361950" cy="8763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BB6892-C29B-4318-933B-1C6FF219F92C}"/>
              </a:ext>
            </a:extLst>
          </p:cNvPr>
          <p:cNvSpPr>
            <a:spLocks noGrp="1"/>
          </p:cNvSpPr>
          <p:nvPr/>
        </p:nvSpPr>
        <p:spPr>
          <a:xfrm>
            <a:off x="5886450" y="27051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08B04A-1677-490C-AB49-5560656B95AA}"/>
              </a:ext>
            </a:extLst>
          </p:cNvPr>
          <p:cNvSpPr>
            <a:spLocks noGrp="1"/>
          </p:cNvSpPr>
          <p:nvPr/>
        </p:nvSpPr>
        <p:spPr>
          <a:xfrm>
            <a:off x="6381750" y="27051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 workspace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72E133-BE04-4368-963C-61AE38E10129}"/>
              </a:ext>
            </a:extLst>
          </p:cNvPr>
          <p:cNvSpPr>
            <a:spLocks noGrp="1"/>
          </p:cNvSpPr>
          <p:nvPr/>
        </p:nvSpPr>
        <p:spPr>
          <a:xfrm>
            <a:off x="6381750" y="2971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Connected to backend stock endpoints through a service layer.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81CA33-2CDF-4A9D-84B8-508C7DDEBD02}"/>
              </a:ext>
            </a:extLst>
          </p:cNvPr>
          <p:cNvSpPr>
            <a:spLocks noGrp="1"/>
          </p:cNvSpPr>
          <p:nvPr/>
        </p:nvSpPr>
        <p:spPr>
          <a:xfrm>
            <a:off x="8572500" y="3009900"/>
            <a:ext cx="3238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31D9F7-1817-4A21-817E-91A3DBB8B7E6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26860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F2D103-9A26-4031-ADA4-D74605BD7780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361950" cy="87630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32D1B1-236C-450E-938C-5839460EB5EC}"/>
              </a:ext>
            </a:extLst>
          </p:cNvPr>
          <p:cNvSpPr>
            <a:spLocks noGrp="1"/>
          </p:cNvSpPr>
          <p:nvPr/>
        </p:nvSpPr>
        <p:spPr>
          <a:xfrm>
            <a:off x="8896350" y="27051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D8BA96-395B-4FF1-AC04-607FD16D91F4}"/>
              </a:ext>
            </a:extLst>
          </p:cNvPr>
          <p:cNvSpPr>
            <a:spLocks noGrp="1"/>
          </p:cNvSpPr>
          <p:nvPr/>
        </p:nvSpPr>
        <p:spPr>
          <a:xfrm>
            <a:off x="9391650" y="27051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Operational action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0D9517-1EE7-4313-AA58-32574E673DE8}"/>
              </a:ext>
            </a:extLst>
          </p:cNvPr>
          <p:cNvSpPr>
            <a:spLocks noGrp="1"/>
          </p:cNvSpPr>
          <p:nvPr/>
        </p:nvSpPr>
        <p:spPr>
          <a:xfrm>
            <a:off x="9391650" y="2971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Search, low-stock view, create, edit, delete, refresh.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11528F-496F-4711-A94C-A8E0FFA9BD27}"/>
              </a:ext>
            </a:extLst>
          </p:cNvPr>
          <p:cNvSpPr>
            <a:spLocks noGrp="1"/>
          </p:cNvSpPr>
          <p:nvPr/>
        </p:nvSpPr>
        <p:spPr>
          <a:xfrm>
            <a:off x="5886450" y="3810000"/>
            <a:ext cx="56959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E36E2A-35FB-46D0-8A14-86A51013BD7F}"/>
              </a:ext>
            </a:extLst>
          </p:cNvPr>
          <p:cNvSpPr>
            <a:spLocks noGrp="1"/>
          </p:cNvSpPr>
          <p:nvPr/>
        </p:nvSpPr>
        <p:spPr>
          <a:xfrm>
            <a:off x="6134100" y="40386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Stock actions inside the active flow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DE5A34-3E82-405A-A896-6EFC9919F0FB}"/>
              </a:ext>
            </a:extLst>
          </p:cNvPr>
          <p:cNvSpPr>
            <a:spLocks noGrp="1"/>
          </p:cNvSpPr>
          <p:nvPr/>
        </p:nvSpPr>
        <p:spPr>
          <a:xfrm>
            <a:off x="6134100" y="4438650"/>
            <a:ext cx="1562100" cy="32385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Search / filter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7D5E08-1353-401D-B430-8EC5A97C9E97}"/>
              </a:ext>
            </a:extLst>
          </p:cNvPr>
          <p:cNvSpPr>
            <a:spLocks noGrp="1"/>
          </p:cNvSpPr>
          <p:nvPr/>
        </p:nvSpPr>
        <p:spPr>
          <a:xfrm>
            <a:off x="7867650" y="4438650"/>
            <a:ext cx="15621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Summary rail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DA0B06-6F49-454F-9807-6645AB089937}"/>
              </a:ext>
            </a:extLst>
          </p:cNvPr>
          <p:cNvSpPr>
            <a:spLocks noGrp="1"/>
          </p:cNvSpPr>
          <p:nvPr/>
        </p:nvSpPr>
        <p:spPr>
          <a:xfrm>
            <a:off x="9601200" y="4438650"/>
            <a:ext cx="1562100" cy="323850"/>
          </a:xfrm>
          <a:prstGeom prst="rect">
            <a:avLst/>
          </a:prstGeom>
          <a:solidFill>
            <a:srgbClr val="F2DFB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Low-stock alert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13C4AC-411A-4AE2-A341-B0E2B741E08B}"/>
              </a:ext>
            </a:extLst>
          </p:cNvPr>
          <p:cNvSpPr>
            <a:spLocks noGrp="1"/>
          </p:cNvSpPr>
          <p:nvPr/>
        </p:nvSpPr>
        <p:spPr>
          <a:xfrm>
            <a:off x="6134100" y="4895850"/>
            <a:ext cx="1562100" cy="323850"/>
          </a:xfrm>
          <a:prstGeom prst="rect">
            <a:avLst/>
          </a:prstGeom>
          <a:solidFill>
            <a:srgbClr val="ECE2F1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Create / update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9FC4A1-6B4E-49F6-BCEC-2B099F58BBB0}"/>
              </a:ext>
            </a:extLst>
          </p:cNvPr>
          <p:cNvSpPr>
            <a:spLocks noGrp="1"/>
          </p:cNvSpPr>
          <p:nvPr/>
        </p:nvSpPr>
        <p:spPr>
          <a:xfrm>
            <a:off x="7867650" y="4895850"/>
            <a:ext cx="1562100" cy="323850"/>
          </a:xfrm>
          <a:prstGeom prst="rect">
            <a:avLst/>
          </a:prstGeom>
          <a:solidFill>
            <a:srgbClr val="F0D5C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Delete with confirm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5EAFF1-7955-40E0-8B82-12B940DC1BAF}"/>
              </a:ext>
            </a:extLst>
          </p:cNvPr>
          <p:cNvSpPr>
            <a:spLocks noGrp="1"/>
          </p:cNvSpPr>
          <p:nvPr/>
        </p:nvSpPr>
        <p:spPr>
          <a:xfrm>
            <a:off x="9601200" y="4895850"/>
            <a:ext cx="1562100" cy="323850"/>
          </a:xfrm>
          <a:prstGeom prst="rect">
            <a:avLst/>
          </a:prstGeom>
          <a:solidFill>
            <a:srgbClr val="DCE8D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Validation messages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2FE22F-53C8-4BA0-939F-A7DF41C4D458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809750" cy="4000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stock first?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E90A03-1183-4798-B66C-18F7300DCE41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400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It is the module where the project already combines domain data, CRUD, validation, low-stock business logic, and testable service behavior.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9DC264-2F1B-4518-BAD4-D79DDF0E8C0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README, frontend App.jsx, StockPage.jsx, stockService.js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B1C49D-DB5B-4663-9F53-CA822BF5EEA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93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ckground">
            <a:extLst>
              <a:ext uri="{FF2B5EF4-FFF2-40B4-BE49-F238E27FC236}">
                <a16:creationId xmlns:a16="http://schemas.microsoft.com/office/drawing/2014/main" id="{41ECB778-8734-44D6-8C18-C7C8CA3A43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coverage-marker">
            <a:extLst>
              <a:ext uri="{FF2B5EF4-FFF2-40B4-BE49-F238E27FC236}">
                <a16:creationId xmlns:a16="http://schemas.microsoft.com/office/drawing/2014/main" id="{7DF23ECD-EF51-4B5F-8929-A0596DE8A45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3" name="kicker-coverage-label">
            <a:extLst>
              <a:ext uri="{FF2B5EF4-FFF2-40B4-BE49-F238E27FC236}">
                <a16:creationId xmlns:a16="http://schemas.microsoft.com/office/drawing/2014/main" id="{4F8716D2-F0AD-4BB1-9D68-9599111DEF2E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MODULE COVERAGE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EEDA3-300F-4799-AF09-DF5C9B5452C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web app exposes the service desk as four operating modules.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CDB0B-139C-4178-893B-4916DE9C2CF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Each route-level page maps to a backend family. Stock is deepest; the other modules establish the broader operating desk.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3076E-AE5C-4D45-A1F8-FBC12AD3889D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9982200" cy="4953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28F08-D91F-47FF-AAE7-8BA51B467C9E}"/>
              </a:ext>
            </a:extLst>
          </p:cNvPr>
          <p:cNvSpPr>
            <a:spLocks noGrp="1"/>
          </p:cNvSpPr>
          <p:nvPr/>
        </p:nvSpPr>
        <p:spPr>
          <a:xfrm>
            <a:off x="1009650" y="25146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07DFF1-A7B2-4F14-A888-C7FFF95FBCE9}"/>
              </a:ext>
            </a:extLst>
          </p:cNvPr>
          <p:cNvSpPr>
            <a:spLocks noGrp="1"/>
          </p:cNvSpPr>
          <p:nvPr/>
        </p:nvSpPr>
        <p:spPr>
          <a:xfrm>
            <a:off x="3676650" y="25146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route family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EA1D70-305B-4FC8-82BC-CB15C4D7BECF}"/>
              </a:ext>
            </a:extLst>
          </p:cNvPr>
          <p:cNvSpPr>
            <a:spLocks noGrp="1"/>
          </p:cNvSpPr>
          <p:nvPr/>
        </p:nvSpPr>
        <p:spPr>
          <a:xfrm>
            <a:off x="6534150" y="25146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operating 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A96B3-F201-4F27-9E06-9BEEEFB4D434}"/>
              </a:ext>
            </a:extLst>
          </p:cNvPr>
          <p:cNvSpPr>
            <a:spLocks noGrp="1"/>
          </p:cNvSpPr>
          <p:nvPr/>
        </p:nvSpPr>
        <p:spPr>
          <a:xfrm>
            <a:off x="9277350" y="25146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Maturity signal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AAA6D-E423-441B-AA07-5CA3BF4EF938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9982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516B54-DAEF-49F5-A7B5-7DE0F754713C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92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9922B"/>
                </a:solidFill>
                <a:latin typeface="Aptos Display"/>
                <a:ea typeface="Aptos Display"/>
                <a:cs typeface="Aptos Display"/>
              </a:rPr>
              <a:t>Stock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26D8D-E5B0-4E07-BEB8-83EF7F4B0FBD}"/>
              </a:ext>
            </a:extLst>
          </p:cNvPr>
          <p:cNvSpPr>
            <a:spLocks noGrp="1"/>
          </p:cNvSpPr>
          <p:nvPr/>
        </p:nvSpPr>
        <p:spPr>
          <a:xfrm>
            <a:off x="3676650" y="30861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rPr>
              <a:t>/stock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5F262-00DE-40A1-931C-5A328A15603B}"/>
              </a:ext>
            </a:extLst>
          </p:cNvPr>
          <p:cNvSpPr>
            <a:spLocks noGrp="1"/>
          </p:cNvSpPr>
          <p:nvPr/>
        </p:nvSpPr>
        <p:spPr>
          <a:xfrm>
            <a:off x="6534150" y="30480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CRUD, search, low-stock,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840BCD-B7F7-4349-82F4-FFAD42CF48A2}"/>
              </a:ext>
            </a:extLst>
          </p:cNvPr>
          <p:cNvSpPr>
            <a:spLocks noGrp="1"/>
          </p:cNvSpPr>
          <p:nvPr/>
        </p:nvSpPr>
        <p:spPr>
          <a:xfrm>
            <a:off x="9277350" y="3038475"/>
            <a:ext cx="1066800" cy="323850"/>
          </a:xfrm>
          <a:prstGeom prst="rect">
            <a:avLst/>
          </a:prstGeom>
          <a:solidFill>
            <a:srgbClr val="F2DFB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deepest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788DC4-CE7E-4859-A208-F8C4C7809718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9982200" cy="685800"/>
          </a:xfrm>
          <a:prstGeom prst="rect">
            <a:avLst/>
          </a:prstGeom>
          <a:solidFill>
            <a:srgbClr val="F0E8DC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9485C9-1DD5-4759-8F77-908E872B9FF5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Finance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4864AA-5098-41FA-A9DC-3C2F53535B7F}"/>
              </a:ext>
            </a:extLst>
          </p:cNvPr>
          <p:cNvSpPr>
            <a:spLocks noGrp="1"/>
          </p:cNvSpPr>
          <p:nvPr/>
        </p:nvSpPr>
        <p:spPr>
          <a:xfrm>
            <a:off x="3676650" y="3771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rPr>
              <a:t>/transactions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0D44DA-3F37-4F84-9B00-E204FAF34A0A}"/>
              </a:ext>
            </a:extLst>
          </p:cNvPr>
          <p:cNvSpPr>
            <a:spLocks noGrp="1"/>
          </p:cNvSpPr>
          <p:nvPr/>
        </p:nvSpPr>
        <p:spPr>
          <a:xfrm>
            <a:off x="6534150" y="37338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income, expense, 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A0B3A-F3D3-41A8-94BC-2D386926A565}"/>
              </a:ext>
            </a:extLst>
          </p:cNvPr>
          <p:cNvSpPr>
            <a:spLocks noGrp="1"/>
          </p:cNvSpPr>
          <p:nvPr/>
        </p:nvSpPr>
        <p:spPr>
          <a:xfrm>
            <a:off x="9277350" y="3724275"/>
            <a:ext cx="10668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F540C-76A4-4845-AD59-FECB0233ABC8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9982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492B08-AAD1-4D33-838D-3D73413DC41B}"/>
              </a:ext>
            </a:extLst>
          </p:cNvPr>
          <p:cNvSpPr>
            <a:spLocks noGrp="1"/>
          </p:cNvSpPr>
          <p:nvPr/>
        </p:nvSpPr>
        <p:spPr>
          <a:xfrm>
            <a:off x="1009650" y="44196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Attendance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F701DE-96F2-495C-8FD4-2338C7498F64}"/>
              </a:ext>
            </a:extLst>
          </p:cNvPr>
          <p:cNvSpPr>
            <a:spLocks noGrp="1"/>
          </p:cNvSpPr>
          <p:nvPr/>
        </p:nvSpPr>
        <p:spPr>
          <a:xfrm>
            <a:off x="3676650" y="4457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rPr>
              <a:t>/attendance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6379B9-BB88-464F-B891-592E4E63FE40}"/>
              </a:ext>
            </a:extLst>
          </p:cNvPr>
          <p:cNvSpPr>
            <a:spLocks noGrp="1"/>
          </p:cNvSpPr>
          <p:nvPr/>
        </p:nvSpPr>
        <p:spPr>
          <a:xfrm>
            <a:off x="6534150" y="44196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check-in, check-out, user list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551EB6-1930-47E5-9F0A-CEE0C2456314}"/>
              </a:ext>
            </a:extLst>
          </p:cNvPr>
          <p:cNvSpPr>
            <a:spLocks noGrp="1"/>
          </p:cNvSpPr>
          <p:nvPr/>
        </p:nvSpPr>
        <p:spPr>
          <a:xfrm>
            <a:off x="9277350" y="4410075"/>
            <a:ext cx="10668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68FCF6-5C7D-4B84-A2B0-8970611B414B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9982200" cy="685800"/>
          </a:xfrm>
          <a:prstGeom prst="rect">
            <a:avLst/>
          </a:prstGeom>
          <a:solidFill>
            <a:srgbClr val="F0E8DC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2E2271-425C-40F7-9FB5-3693DA88C2D7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Appointments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EE804C-5042-4960-8885-51041A39FA4D}"/>
              </a:ext>
            </a:extLst>
          </p:cNvPr>
          <p:cNvSpPr>
            <a:spLocks noGrp="1"/>
          </p:cNvSpPr>
          <p:nvPr/>
        </p:nvSpPr>
        <p:spPr>
          <a:xfrm>
            <a:off x="3676650" y="5143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267B2"/>
                </a:solidFill>
                <a:latin typeface="Aptos Mono"/>
                <a:ea typeface="Aptos Mono"/>
                <a:cs typeface="Aptos Mono"/>
              </a:rPr>
              <a:t>/appointments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875081-FCF0-49C1-A07D-798A5196E384}"/>
              </a:ext>
            </a:extLst>
          </p:cNvPr>
          <p:cNvSpPr>
            <a:spLocks noGrp="1"/>
          </p:cNvSpPr>
          <p:nvPr/>
        </p:nvSpPr>
        <p:spPr>
          <a:xfrm>
            <a:off x="6534150" y="51054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client, truck, service date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292A75-8D7A-4C77-80D6-593B98A2E93A}"/>
              </a:ext>
            </a:extLst>
          </p:cNvPr>
          <p:cNvSpPr>
            <a:spLocks noGrp="1"/>
          </p:cNvSpPr>
          <p:nvPr/>
        </p:nvSpPr>
        <p:spPr>
          <a:xfrm>
            <a:off x="9277350" y="5095875"/>
            <a:ext cx="10668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1ACA22-FDF9-4B41-9787-F4CC6C88B116}"/>
              </a:ext>
            </a:extLst>
          </p:cNvPr>
          <p:cNvSpPr>
            <a:spLocks noGrp="1"/>
          </p:cNvSpPr>
          <p:nvPr/>
        </p:nvSpPr>
        <p:spPr>
          <a:xfrm>
            <a:off x="3390900" y="2362200"/>
            <a:ext cx="9525" cy="3238500"/>
          </a:xfrm>
          <a:prstGeom prst="rect">
            <a:avLst/>
          </a:prstGeom>
          <a:solidFill>
            <a:srgbClr val="D1C6B6"/>
          </a:solidFill>
          <a:ln w="0">
            <a:solidFill>
              <a:srgbClr val="D1C6B6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16A1EC-C607-4BC9-883E-025412D27BE6}"/>
              </a:ext>
            </a:extLst>
          </p:cNvPr>
          <p:cNvSpPr>
            <a:spLocks noGrp="1"/>
          </p:cNvSpPr>
          <p:nvPr/>
        </p:nvSpPr>
        <p:spPr>
          <a:xfrm>
            <a:off x="6248400" y="2362200"/>
            <a:ext cx="9525" cy="3238500"/>
          </a:xfrm>
          <a:prstGeom prst="rect">
            <a:avLst/>
          </a:prstGeom>
          <a:solidFill>
            <a:srgbClr val="D1C6B6"/>
          </a:solidFill>
          <a:ln w="0">
            <a:solidFill>
              <a:srgbClr val="D1C6B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21DEC3-E7A5-4A18-ADB5-809164514415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9525" cy="3238500"/>
          </a:xfrm>
          <a:prstGeom prst="rect">
            <a:avLst/>
          </a:prstGeom>
          <a:solidFill>
            <a:srgbClr val="D1C6B6"/>
          </a:solidFill>
          <a:ln w="0">
            <a:solidFill>
              <a:srgbClr val="D1C6B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4E3B2C-B0BA-4DDA-8697-3B024A2DBCC3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3632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CDE0F2-F176-4BDC-95F0-C72ACACC3656}"/>
              </a:ext>
            </a:extLst>
          </p:cNvPr>
          <p:cNvSpPr>
            <a:spLocks noGrp="1"/>
          </p:cNvSpPr>
          <p:nvPr/>
        </p:nvSpPr>
        <p:spPr>
          <a:xfrm>
            <a:off x="800100" y="619125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ProtectedRoute keeps the module surface behind authenticated access, while AppLayout gives the project one navigable operating shell.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58007-2E48-4D03-94FF-A133810F0A5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frontend routes and backend app.js route mounts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6943B6-014F-441D-855E-6808B7EFA48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196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ckground">
            <a:extLst>
              <a:ext uri="{FF2B5EF4-FFF2-40B4-BE49-F238E27FC236}">
                <a16:creationId xmlns:a16="http://schemas.microsoft.com/office/drawing/2014/main" id="{2FDBF811-899F-4DB5-8E60-AB02D73AD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arch-marker">
            <a:extLst>
              <a:ext uri="{FF2B5EF4-FFF2-40B4-BE49-F238E27FC236}">
                <a16:creationId xmlns:a16="http://schemas.microsoft.com/office/drawing/2014/main" id="{355D4820-64BA-498E-8E3F-27F3923DA14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3" name="kicker-arch-label">
            <a:extLst>
              <a:ext uri="{FF2B5EF4-FFF2-40B4-BE49-F238E27FC236}">
                <a16:creationId xmlns:a16="http://schemas.microsoft.com/office/drawing/2014/main" id="{A75BE8B2-4A0A-41EE-9278-72CCD754CE84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E1BF5-35FD-4BC7-9ACC-31C033D4154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810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A layered backend keeps business rules out of the UI.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F9CEA-7581-4EA1-859D-7863C93A3B0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83820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E1C2C-271F-41D6-A8FB-E0A337E4D5D4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314108-EFDD-4047-9CC5-C802E116CC6B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0972800" cy="838200"/>
          </a:xfrm>
          <a:prstGeom prst="rect">
            <a:avLst/>
          </a:prstGeom>
          <a:solidFill>
            <a:srgbClr val="E6EA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8D5016-E8FE-4755-8B3E-32F89E0F82BA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API boundary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D8D95-571F-4DA2-8EF0-A6CA43DB549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10972800" cy="838200"/>
          </a:xfrm>
          <a:prstGeom prst="rect">
            <a:avLst/>
          </a:prstGeom>
          <a:solidFill>
            <a:srgbClr val="DDED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D995B4-A661-4EE5-AC82-01F8C5ACA1D7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Business logic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84DDB8-FDD8-4D5C-9FA7-6F77D7A84191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0972800" cy="838200"/>
          </a:xfrm>
          <a:prstGeom prst="rect">
            <a:avLst/>
          </a:prstGeom>
          <a:solidFill>
            <a:srgbClr val="F2D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2C819-25D3-46F0-8304-0F4777E60F78}"/>
              </a:ext>
            </a:extLst>
          </p:cNvPr>
          <p:cNvSpPr>
            <a:spLocks noGrp="1"/>
          </p:cNvSpPr>
          <p:nvPr/>
        </p:nvSpPr>
        <p:spPr>
          <a:xfrm>
            <a:off x="800100" y="5162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9E6B8C-0FCC-4867-89B5-12E35BBDBF2D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React + Vite pages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Dashboard / Stock / Finance / Attendance / Appointments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7DE9B7-38E8-41C1-914E-7AF33A3C479C}"/>
              </a:ext>
            </a:extLst>
          </p:cNvPr>
          <p:cNvSpPr>
            <a:spLocks noGrp="1"/>
          </p:cNvSpPr>
          <p:nvPr/>
        </p:nvSpPr>
        <p:spPr>
          <a:xfrm>
            <a:off x="4762500" y="2276475"/>
            <a:ext cx="666750" cy="28575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48A38B-FB56-43BF-B880-47A28113A4BF}"/>
              </a:ext>
            </a:extLst>
          </p:cNvPr>
          <p:cNvSpPr>
            <a:spLocks noGrp="1"/>
          </p:cNvSpPr>
          <p:nvPr/>
        </p:nvSpPr>
        <p:spPr>
          <a:xfrm>
            <a:off x="5429250" y="20193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services/*.js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API calls normalize backend responses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07923E-8217-4866-95F9-FDB0CE3A2669}"/>
              </a:ext>
            </a:extLst>
          </p:cNvPr>
          <p:cNvSpPr>
            <a:spLocks noGrp="1"/>
          </p:cNvSpPr>
          <p:nvPr/>
        </p:nvSpPr>
        <p:spPr>
          <a:xfrm>
            <a:off x="2381250" y="30289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Express routes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/auth /admin /stock /transactions /attendance /appointments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A988A-E47B-4E83-8F93-FE40B0755336}"/>
              </a:ext>
            </a:extLst>
          </p:cNvPr>
          <p:cNvSpPr>
            <a:spLocks noGrp="1"/>
          </p:cNvSpPr>
          <p:nvPr/>
        </p:nvSpPr>
        <p:spPr>
          <a:xfrm>
            <a:off x="5238750" y="3286125"/>
            <a:ext cx="552450" cy="28575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86F4F2-8CBA-4215-96A5-18B5A818096A}"/>
              </a:ext>
            </a:extLst>
          </p:cNvPr>
          <p:cNvSpPr>
            <a:spLocks noGrp="1"/>
          </p:cNvSpPr>
          <p:nvPr/>
        </p:nvSpPr>
        <p:spPr>
          <a:xfrm>
            <a:off x="5791200" y="3028950"/>
            <a:ext cx="2971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Middleware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JWT bearer token + role authorization + error handler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811A6-1C64-4839-BA45-E672B993C1B2}"/>
              </a:ext>
            </a:extLst>
          </p:cNvPr>
          <p:cNvSpPr>
            <a:spLocks noGrp="1"/>
          </p:cNvSpPr>
          <p:nvPr/>
        </p:nvSpPr>
        <p:spPr>
          <a:xfrm>
            <a:off x="2381250" y="4038600"/>
            <a:ext cx="37909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D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Services enforce rules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StockItemService / TransactionService / AttendanceService / AppointmentService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B9B524-0FA0-483B-B50C-B3E6E5AE5962}"/>
              </a:ext>
            </a:extLst>
          </p:cNvPr>
          <p:cNvSpPr>
            <a:spLocks noGrp="1"/>
          </p:cNvSpPr>
          <p:nvPr/>
        </p:nvSpPr>
        <p:spPr>
          <a:xfrm>
            <a:off x="6172200" y="4295775"/>
            <a:ext cx="552450" cy="28575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972F67-7DD6-4B25-AB49-F047FB0FD9B7}"/>
              </a:ext>
            </a:extLst>
          </p:cNvPr>
          <p:cNvSpPr>
            <a:spLocks noGrp="1"/>
          </p:cNvSpPr>
          <p:nvPr/>
        </p:nvSpPr>
        <p:spPr>
          <a:xfrm>
            <a:off x="6724650" y="4038600"/>
            <a:ext cx="2628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D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Domain models shape output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User / StockItem / Transaction / Attendance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4CE2BE-4C2C-459D-A653-B67DBCC0F137}"/>
              </a:ext>
            </a:extLst>
          </p:cNvPr>
          <p:cNvSpPr>
            <a:spLocks noGrp="1"/>
          </p:cNvSpPr>
          <p:nvPr/>
        </p:nvSpPr>
        <p:spPr>
          <a:xfrm>
            <a:off x="2381250" y="504825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6C98D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CSV stock repository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current stock demo storage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AD5EEC-093A-4863-81FB-39F617AC816A}"/>
              </a:ext>
            </a:extLst>
          </p:cNvPr>
          <p:cNvSpPr>
            <a:spLocks noGrp="1"/>
          </p:cNvSpPr>
          <p:nvPr/>
        </p:nvSpPr>
        <p:spPr>
          <a:xfrm>
            <a:off x="4762500" y="5305425"/>
            <a:ext cx="666750" cy="28575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086AB4-7404-460A-978D-E6B7A3683EC0}"/>
              </a:ext>
            </a:extLst>
          </p:cNvPr>
          <p:cNvSpPr>
            <a:spLocks noGrp="1"/>
          </p:cNvSpPr>
          <p:nvPr/>
        </p:nvSpPr>
        <p:spPr>
          <a:xfrm>
            <a:off x="5429250" y="5048250"/>
            <a:ext cx="34099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6C98D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PostgreSQL schema</a:t>
            </a:r>
          </a:p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users, transactions, attendance, clients, trucks, appointments, stock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2B2B4F-112D-4640-8B2E-5FA36BA9AD29}"/>
              </a:ext>
            </a:extLst>
          </p:cNvPr>
          <p:cNvSpPr>
            <a:spLocks noGrp="1"/>
          </p:cNvSpPr>
          <p:nvPr/>
        </p:nvSpPr>
        <p:spPr>
          <a:xfrm>
            <a:off x="9620250" y="3028950"/>
            <a:ext cx="1390650" cy="1524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BA425F-CBCE-4C7E-B767-3A7C3BDFE08B}"/>
              </a:ext>
            </a:extLst>
          </p:cNvPr>
          <p:cNvSpPr>
            <a:spLocks noGrp="1"/>
          </p:cNvSpPr>
          <p:nvPr/>
        </p:nvSpPr>
        <p:spPr>
          <a:xfrm>
            <a:off x="9772650" y="3314700"/>
            <a:ext cx="108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8F3E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8F3EA"/>
                </a:solidFill>
                <a:latin typeface="Aptos Mono"/>
                <a:ea typeface="Aptos Mono"/>
                <a:cs typeface="Aptos Mono"/>
              </a:rPr>
              <a:t>{ ok, message 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374F95-92B7-428E-A39D-D214A748653B}"/>
              </a:ext>
            </a:extLst>
          </p:cNvPr>
          <p:cNvSpPr>
            <a:spLocks noGrp="1"/>
          </p:cNvSpPr>
          <p:nvPr/>
        </p:nvSpPr>
        <p:spPr>
          <a:xfrm>
            <a:off x="9772650" y="3733800"/>
            <a:ext cx="1085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ED6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ED6D2"/>
                </a:solidFill>
                <a:latin typeface="Aptos"/>
                <a:ea typeface="Aptos"/>
                <a:cs typeface="Aptos"/>
              </a:rPr>
              <a:t>one response contract keeps frontend error display predictable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72F36D-285A-499A-A85D-F627D9C9CF2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docs/architecture.md, backend/src/app.js, routes, services, repositories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C0D5C6-9A50-4E12-A3EF-11834E8D9F4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041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ackground">
            <a:extLst>
              <a:ext uri="{FF2B5EF4-FFF2-40B4-BE49-F238E27FC236}">
                <a16:creationId xmlns:a16="http://schemas.microsoft.com/office/drawing/2014/main" id="{CD9668FC-C799-463F-BD10-26DE477AE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stock-marker">
            <a:extLst>
              <a:ext uri="{FF2B5EF4-FFF2-40B4-BE49-F238E27FC236}">
                <a16:creationId xmlns:a16="http://schemas.microsoft.com/office/drawing/2014/main" id="{609A0AEA-D0B1-467F-AC8A-C0BEF6812E8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3" name="kicker-stock-label">
            <a:extLst>
              <a:ext uri="{FF2B5EF4-FFF2-40B4-BE49-F238E27FC236}">
                <a16:creationId xmlns:a16="http://schemas.microsoft.com/office/drawing/2014/main" id="{2ABFC5A5-C66A-4EDF-8EE7-6D96D113C643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 PROOF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C1F25-AFFC-4418-BD52-82C81B7FB97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667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Stock is the strongest workflow because it carries CRUD and operational alerts.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005C2-5841-4D8B-A395-BAD7A04C893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28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Sample CSV data proves the workflow with real spare-part fields: item code, category, unit, quantity, minimum, unit cost, supplier, and location.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3657E-6571-49DB-8664-E52A2DBE85CB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7239000" cy="3181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59841C-CBF7-48EA-A896-335F49447112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Inventory value by sample item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F9840-A2DA-4E8C-99FE-32C2B107A70F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EUR value = current quantity x unit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F523B-EA90-46D9-B605-ED77D1561B44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Brake Pads 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CB71E6-1DAC-4BEA-B33F-64D7B131D038}"/>
              </a:ext>
            </a:extLst>
          </p:cNvPr>
          <p:cNvSpPr>
            <a:spLocks noGrp="1"/>
          </p:cNvSpPr>
          <p:nvPr/>
        </p:nvSpPr>
        <p:spPr>
          <a:xfrm>
            <a:off x="2686050" y="3295650"/>
            <a:ext cx="2286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1AB8AF-F636-4740-ABE3-11CB8497A628}"/>
              </a:ext>
            </a:extLst>
          </p:cNvPr>
          <p:cNvSpPr>
            <a:spLocks noGrp="1"/>
          </p:cNvSpPr>
          <p:nvPr/>
        </p:nvSpPr>
        <p:spPr>
          <a:xfrm>
            <a:off x="2686050" y="3295650"/>
            <a:ext cx="2286000" cy="17145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D517E9-550B-4567-A172-187B24D9A9E4}"/>
              </a:ext>
            </a:extLst>
          </p:cNvPr>
          <p:cNvSpPr>
            <a:spLocks noGrp="1"/>
          </p:cNvSpPr>
          <p:nvPr/>
        </p:nvSpPr>
        <p:spPr>
          <a:xfrm>
            <a:off x="5048250" y="328612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EUR 665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FCA02-245A-4522-AB31-C51821FBC306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Oil Filter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0F76D-7FC7-42BF-A352-E2E742977D42}"/>
              </a:ext>
            </a:extLst>
          </p:cNvPr>
          <p:cNvSpPr>
            <a:spLocks noGrp="1"/>
          </p:cNvSpPr>
          <p:nvPr/>
        </p:nvSpPr>
        <p:spPr>
          <a:xfrm>
            <a:off x="2686050" y="3695700"/>
            <a:ext cx="2286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AAE0E9-8034-496C-8884-2FB863AD6225}"/>
              </a:ext>
            </a:extLst>
          </p:cNvPr>
          <p:cNvSpPr>
            <a:spLocks noGrp="1"/>
          </p:cNvSpPr>
          <p:nvPr/>
        </p:nvSpPr>
        <p:spPr>
          <a:xfrm>
            <a:off x="2686050" y="3695700"/>
            <a:ext cx="885825" cy="1714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D7678-0437-4AB0-B00A-DA45125DB454}"/>
              </a:ext>
            </a:extLst>
          </p:cNvPr>
          <p:cNvSpPr>
            <a:spLocks noGrp="1"/>
          </p:cNvSpPr>
          <p:nvPr/>
        </p:nvSpPr>
        <p:spPr>
          <a:xfrm>
            <a:off x="3648075" y="368617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EUR 259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C96780-E9C6-4F89-96A1-8861DD6BEF57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Coolant 5L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2EF02E-2422-4043-8670-E0D71C98C1AA}"/>
              </a:ext>
            </a:extLst>
          </p:cNvPr>
          <p:cNvSpPr>
            <a:spLocks noGrp="1"/>
          </p:cNvSpPr>
          <p:nvPr/>
        </p:nvSpPr>
        <p:spPr>
          <a:xfrm>
            <a:off x="2686050" y="4095750"/>
            <a:ext cx="2286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534CF7-9E5B-4974-97C4-77531DC2CEB2}"/>
              </a:ext>
            </a:extLst>
          </p:cNvPr>
          <p:cNvSpPr>
            <a:spLocks noGrp="1"/>
          </p:cNvSpPr>
          <p:nvPr/>
        </p:nvSpPr>
        <p:spPr>
          <a:xfrm>
            <a:off x="2686050" y="4095750"/>
            <a:ext cx="828675" cy="1714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3AAD35-0A60-4C92-AFAC-0C94C457687F}"/>
              </a:ext>
            </a:extLst>
          </p:cNvPr>
          <p:cNvSpPr>
            <a:spLocks noGrp="1"/>
          </p:cNvSpPr>
          <p:nvPr/>
        </p:nvSpPr>
        <p:spPr>
          <a:xfrm>
            <a:off x="3590925" y="408622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EUR 242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AB073B-6301-4E4C-8442-505F6CFF6EE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Wheel Nut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4ED9E5-944B-456A-AB16-D20B4C639C8F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2286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582F1-634B-49E2-A1AE-C44A6D2D99A6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438150" cy="17145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A4ABA8-6C58-4D99-BD59-64EB1DB2FA93}"/>
              </a:ext>
            </a:extLst>
          </p:cNvPr>
          <p:cNvSpPr>
            <a:spLocks noGrp="1"/>
          </p:cNvSpPr>
          <p:nvPr/>
        </p:nvSpPr>
        <p:spPr>
          <a:xfrm>
            <a:off x="3200400" y="448627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EUR 128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FACEE1-086B-4D33-91E5-DB9E3A82A396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Headlight Bulb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F22ED0-C719-4E82-826B-5D50221E42A7}"/>
              </a:ext>
            </a:extLst>
          </p:cNvPr>
          <p:cNvSpPr>
            <a:spLocks noGrp="1"/>
          </p:cNvSpPr>
          <p:nvPr/>
        </p:nvSpPr>
        <p:spPr>
          <a:xfrm>
            <a:off x="2686050" y="4895850"/>
            <a:ext cx="2286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8AE0FD-A619-4C85-BE72-3030C9607FBD}"/>
              </a:ext>
            </a:extLst>
          </p:cNvPr>
          <p:cNvSpPr>
            <a:spLocks noGrp="1"/>
          </p:cNvSpPr>
          <p:nvPr/>
        </p:nvSpPr>
        <p:spPr>
          <a:xfrm>
            <a:off x="2686050" y="4895850"/>
            <a:ext cx="133350" cy="171450"/>
          </a:xfrm>
          <a:prstGeom prst="rect">
            <a:avLst/>
          </a:prstGeom>
          <a:solidFill>
            <a:srgbClr val="C94A38"/>
          </a:solidFill>
          <a:ln w="0">
            <a:solidFill>
              <a:srgbClr val="C94A3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2D5A1C-0A6B-4133-8ABB-4585F00840C0}"/>
              </a:ext>
            </a:extLst>
          </p:cNvPr>
          <p:cNvSpPr>
            <a:spLocks noGrp="1"/>
          </p:cNvSpPr>
          <p:nvPr/>
        </p:nvSpPr>
        <p:spPr>
          <a:xfrm>
            <a:off x="2895600" y="488632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EUR 38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92A21B-D1FA-44EC-9563-811824F0C8C4}"/>
              </a:ext>
            </a:extLst>
          </p:cNvPr>
          <p:cNvSpPr>
            <a:spLocks noGrp="1"/>
          </p:cNvSpPr>
          <p:nvPr/>
        </p:nvSpPr>
        <p:spPr>
          <a:xfrm>
            <a:off x="5962650" y="3257550"/>
            <a:ext cx="1428750" cy="552450"/>
          </a:xfrm>
          <a:prstGeom prst="rect">
            <a:avLst/>
          </a:prstGeom>
          <a:solidFill>
            <a:srgbClr val="F0D5CF"/>
          </a:solidFill>
          <a:ln w="9525">
            <a:solidFill>
              <a:srgbClr val="C94A3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0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Low-stock rule:</a:t>
            </a:r>
          </a:p>
          <a:p>
            <a:pPr algn="ctr">
              <a:defRPr sz="10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current_qty &lt;= min_qty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B9A13D-5E4D-4D9D-BAF2-C2C0975FB635}"/>
              </a:ext>
            </a:extLst>
          </p:cNvPr>
          <p:cNvSpPr>
            <a:spLocks noGrp="1"/>
          </p:cNvSpPr>
          <p:nvPr/>
        </p:nvSpPr>
        <p:spPr>
          <a:xfrm>
            <a:off x="5962650" y="3943350"/>
            <a:ext cx="1428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Headlight Bulb is flagged at 3 current / 5 minimum.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6E5E3D-10E3-418B-B550-1076F9697943}"/>
              </a:ext>
            </a:extLst>
          </p:cNvPr>
          <p:cNvSpPr>
            <a:spLocks noGrp="1"/>
          </p:cNvSpPr>
          <p:nvPr/>
        </p:nvSpPr>
        <p:spPr>
          <a:xfrm>
            <a:off x="8229600" y="2305050"/>
            <a:ext cx="2743200" cy="352425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A60D4C-65B6-4708-902F-3C32D1C7CF65}"/>
              </a:ext>
            </a:extLst>
          </p:cNvPr>
          <p:cNvSpPr>
            <a:spLocks noGrp="1"/>
          </p:cNvSpPr>
          <p:nvPr/>
        </p:nvSpPr>
        <p:spPr>
          <a:xfrm>
            <a:off x="8534400" y="26479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05067B-B877-47B9-8965-B2C04611C65A}"/>
              </a:ext>
            </a:extLst>
          </p:cNvPr>
          <p:cNvSpPr>
            <a:spLocks noGrp="1"/>
          </p:cNvSpPr>
          <p:nvPr/>
        </p:nvSpPr>
        <p:spPr>
          <a:xfrm>
            <a:off x="8534400" y="30289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sample stock items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F45403-C650-4BE2-ACF7-CBCA58ECCA23}"/>
              </a:ext>
            </a:extLst>
          </p:cNvPr>
          <p:cNvSpPr>
            <a:spLocks noGrp="1"/>
          </p:cNvSpPr>
          <p:nvPr/>
        </p:nvSpPr>
        <p:spPr>
          <a:xfrm>
            <a:off x="8534400" y="35242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4B5A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B5A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90E785-B163-41C3-BA74-86D10B251BB4}"/>
              </a:ext>
            </a:extLst>
          </p:cNvPr>
          <p:cNvSpPr>
            <a:spLocks noGrp="1"/>
          </p:cNvSpPr>
          <p:nvPr/>
        </p:nvSpPr>
        <p:spPr>
          <a:xfrm>
            <a:off x="8534400" y="39052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low-stock item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47694F-8810-4C82-8F60-5731C3A7AFCE}"/>
              </a:ext>
            </a:extLst>
          </p:cNvPr>
          <p:cNvSpPr>
            <a:spLocks noGrp="1"/>
          </p:cNvSpPr>
          <p:nvPr/>
        </p:nvSpPr>
        <p:spPr>
          <a:xfrm>
            <a:off x="8534400" y="4400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3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D49A"/>
                </a:solidFill>
                <a:latin typeface="Aptos Display"/>
                <a:ea typeface="Aptos Display"/>
                <a:cs typeface="Aptos Display"/>
              </a:rPr>
              <a:t>EUR 1.33k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DC56BF-5AEA-4AA8-B38E-41DF6A69DEE7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sample inventory value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A2DE8F-2DB7-471B-9693-E128D0FB7643}"/>
              </a:ext>
            </a:extLst>
          </p:cNvPr>
          <p:cNvSpPr>
            <a:spLocks noGrp="1"/>
          </p:cNvSpPr>
          <p:nvPr/>
        </p:nvSpPr>
        <p:spPr>
          <a:xfrm>
            <a:off x="8534400" y="5143500"/>
            <a:ext cx="2000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ED6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ED6D2"/>
                </a:solidFill>
                <a:latin typeface="Aptos"/>
                <a:ea typeface="Aptos"/>
                <a:cs typeface="Aptos"/>
              </a:rPr>
              <a:t>Operational value: the app tells the admin which parts need attention.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477D88-D730-41CF-B532-004A2D24211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backend/src/Data/sample-data/stock-items.csv and StockItemService low-stock rule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58DC1F-9D24-4F05-9984-80BEBF26242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16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ackground">
            <a:extLst>
              <a:ext uri="{FF2B5EF4-FFF2-40B4-BE49-F238E27FC236}">
                <a16:creationId xmlns:a16="http://schemas.microsoft.com/office/drawing/2014/main" id="{A00FC0E1-B2A9-4EF0-9E27-0CD3B50B6C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domain-marker">
            <a:extLst>
              <a:ext uri="{FF2B5EF4-FFF2-40B4-BE49-F238E27FC236}">
                <a16:creationId xmlns:a16="http://schemas.microsoft.com/office/drawing/2014/main" id="{E4E13AF5-7947-4C99-BF06-7D49489181A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3" name="kicker-domain-label">
            <a:extLst>
              <a:ext uri="{FF2B5EF4-FFF2-40B4-BE49-F238E27FC236}">
                <a16:creationId xmlns:a16="http://schemas.microsoft.com/office/drawing/2014/main" id="{71104EB5-B970-4144-83A2-E8975781227A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DOMAIN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EAE32A-58F5-402B-BAD8-CEAA5716327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382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database already frames the full service business beyond stock.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08672-4C63-491D-9EC9-DE4E1BB0C6A0}"/>
              </a:ext>
            </a:extLst>
          </p:cNvPr>
          <p:cNvSpPr>
            <a:spLocks noGrp="1"/>
          </p:cNvSpPr>
          <p:nvPr/>
        </p:nvSpPr>
        <p:spPr>
          <a:xfrm>
            <a:off x="5353050" y="2819400"/>
            <a:ext cx="1485900" cy="81915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5B018-1D93-4192-9F9C-D688E79F6006}"/>
              </a:ext>
            </a:extLst>
          </p:cNvPr>
          <p:cNvSpPr>
            <a:spLocks noGrp="1"/>
          </p:cNvSpPr>
          <p:nvPr/>
        </p:nvSpPr>
        <p:spPr>
          <a:xfrm>
            <a:off x="5524500" y="2990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822191-7D4C-4443-8499-7154044C5F24}"/>
              </a:ext>
            </a:extLst>
          </p:cNvPr>
          <p:cNvSpPr>
            <a:spLocks noGrp="1"/>
          </p:cNvSpPr>
          <p:nvPr/>
        </p:nvSpPr>
        <p:spPr>
          <a:xfrm>
            <a:off x="5524500" y="3314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CAD1C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AD1CE"/>
                </a:solidFill>
                <a:latin typeface="Aptos"/>
                <a:ea typeface="Aptos"/>
                <a:cs typeface="Aptos"/>
              </a:rPr>
              <a:t>ADMIN / MECHANIC / GUARD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A759D-539E-4093-8CD4-EC5B6ACF1997}"/>
              </a:ext>
            </a:extLst>
          </p:cNvPr>
          <p:cNvSpPr>
            <a:spLocks noGrp="1"/>
          </p:cNvSpPr>
          <p:nvPr/>
        </p:nvSpPr>
        <p:spPr>
          <a:xfrm>
            <a:off x="3867150" y="2381250"/>
            <a:ext cx="148590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321AE-AA85-4F95-A008-3BF4EE0CAEAD}"/>
              </a:ext>
            </a:extLst>
          </p:cNvPr>
          <p:cNvSpPr>
            <a:spLocks noGrp="1"/>
          </p:cNvSpPr>
          <p:nvPr/>
        </p:nvSpPr>
        <p:spPr>
          <a:xfrm>
            <a:off x="3867150" y="4438650"/>
            <a:ext cx="148590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54A97-F5D7-4CE6-9065-615B0C8383D3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8953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83976D-E0CD-40E6-8BC7-56574E673618}"/>
              </a:ext>
            </a:extLst>
          </p:cNvPr>
          <p:cNvSpPr>
            <a:spLocks noGrp="1"/>
          </p:cNvSpPr>
          <p:nvPr/>
        </p:nvSpPr>
        <p:spPr>
          <a:xfrm>
            <a:off x="6838950" y="4438650"/>
            <a:ext cx="8953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22C4C-32B3-4138-A455-2F4C80E4222D}"/>
              </a:ext>
            </a:extLst>
          </p:cNvPr>
          <p:cNvSpPr>
            <a:spLocks noGrp="1"/>
          </p:cNvSpPr>
          <p:nvPr/>
        </p:nvSpPr>
        <p:spPr>
          <a:xfrm>
            <a:off x="5695950" y="2114550"/>
            <a:ext cx="19050" cy="7048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EB0229-4BF8-4EBC-AA91-11630B15A86E}"/>
              </a:ext>
            </a:extLst>
          </p:cNvPr>
          <p:cNvSpPr>
            <a:spLocks noGrp="1"/>
          </p:cNvSpPr>
          <p:nvPr/>
        </p:nvSpPr>
        <p:spPr>
          <a:xfrm>
            <a:off x="6496050" y="2114550"/>
            <a:ext cx="19050" cy="7048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B23C21-EA53-47D5-8294-7CE0A6D0762D}"/>
              </a:ext>
            </a:extLst>
          </p:cNvPr>
          <p:cNvSpPr>
            <a:spLocks noGrp="1"/>
          </p:cNvSpPr>
          <p:nvPr/>
        </p:nvSpPr>
        <p:spPr>
          <a:xfrm>
            <a:off x="5695950" y="3638550"/>
            <a:ext cx="19050" cy="129540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EC25E-7C84-421B-8DF6-2D6ED6FE5941}"/>
              </a:ext>
            </a:extLst>
          </p:cNvPr>
          <p:cNvSpPr>
            <a:spLocks noGrp="1"/>
          </p:cNvSpPr>
          <p:nvPr/>
        </p:nvSpPr>
        <p:spPr>
          <a:xfrm>
            <a:off x="6496050" y="3638550"/>
            <a:ext cx="19050" cy="129540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32B278-7BC0-4351-830D-BF25F166D064}"/>
              </a:ext>
            </a:extLst>
          </p:cNvPr>
          <p:cNvSpPr>
            <a:spLocks noGrp="1"/>
          </p:cNvSpPr>
          <p:nvPr/>
        </p:nvSpPr>
        <p:spPr>
          <a:xfrm>
            <a:off x="2190750" y="2152650"/>
            <a:ext cx="1676400" cy="41910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4A1C40-2100-4E86-A37A-10F3D87887CF}"/>
              </a:ext>
            </a:extLst>
          </p:cNvPr>
          <p:cNvSpPr>
            <a:spLocks noGrp="1"/>
          </p:cNvSpPr>
          <p:nvPr/>
        </p:nvSpPr>
        <p:spPr>
          <a:xfrm>
            <a:off x="2324100" y="26479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work_date, check_in, check_out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0AA12F-34C3-4AA1-A190-BD7878A6FBED}"/>
              </a:ext>
            </a:extLst>
          </p:cNvPr>
          <p:cNvSpPr>
            <a:spLocks noGrp="1"/>
          </p:cNvSpPr>
          <p:nvPr/>
        </p:nvSpPr>
        <p:spPr>
          <a:xfrm>
            <a:off x="2190750" y="4038600"/>
            <a:ext cx="1676400" cy="419100"/>
          </a:xfrm>
          <a:prstGeom prst="rect">
            <a:avLst/>
          </a:prstGeom>
          <a:solidFill>
            <a:srgbClr val="DCE8D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ABBBE1-F913-4B17-9F70-46D9DE12A173}"/>
              </a:ext>
            </a:extLst>
          </p:cNvPr>
          <p:cNvSpPr>
            <a:spLocks noGrp="1"/>
          </p:cNvSpPr>
          <p:nvPr/>
        </p:nvSpPr>
        <p:spPr>
          <a:xfrm>
            <a:off x="2324100" y="45339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income, expense, tx_date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41040E-AE6C-4B7B-A6B4-7EB7EB6981B5}"/>
              </a:ext>
            </a:extLst>
          </p:cNvPr>
          <p:cNvSpPr>
            <a:spLocks noGrp="1"/>
          </p:cNvSpPr>
          <p:nvPr/>
        </p:nvSpPr>
        <p:spPr>
          <a:xfrm>
            <a:off x="7734300" y="2152650"/>
            <a:ext cx="1676400" cy="419100"/>
          </a:xfrm>
          <a:prstGeom prst="rect">
            <a:avLst/>
          </a:prstGeom>
          <a:solidFill>
            <a:srgbClr val="F2DFB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appointments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29FC93-00A1-438D-B346-346C25FDA6C7}"/>
              </a:ext>
            </a:extLst>
          </p:cNvPr>
          <p:cNvSpPr>
            <a:spLocks noGrp="1"/>
          </p:cNvSpPr>
          <p:nvPr/>
        </p:nvSpPr>
        <p:spPr>
          <a:xfrm>
            <a:off x="7867650" y="26479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client, truck, service 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2F7F4-80E5-4EAD-835E-D00A77B229CB}"/>
              </a:ext>
            </a:extLst>
          </p:cNvPr>
          <p:cNvSpPr>
            <a:spLocks noGrp="1"/>
          </p:cNvSpPr>
          <p:nvPr/>
        </p:nvSpPr>
        <p:spPr>
          <a:xfrm>
            <a:off x="7734300" y="4038600"/>
            <a:ext cx="1676400" cy="41910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stock_items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C243D-D45A-48DC-A668-937894D9A040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qty, min, cost, supplier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F1EFCA-85F7-482C-A20F-C6F7F1B0E974}"/>
              </a:ext>
            </a:extLst>
          </p:cNvPr>
          <p:cNvSpPr>
            <a:spLocks noGrp="1"/>
          </p:cNvSpPr>
          <p:nvPr/>
        </p:nvSpPr>
        <p:spPr>
          <a:xfrm>
            <a:off x="4724400" y="1600200"/>
            <a:ext cx="1676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BECA79-7B95-4EE8-9585-7835D85799E4}"/>
              </a:ext>
            </a:extLst>
          </p:cNvPr>
          <p:cNvSpPr>
            <a:spLocks noGrp="1"/>
          </p:cNvSpPr>
          <p:nvPr/>
        </p:nvSpPr>
        <p:spPr>
          <a:xfrm>
            <a:off x="6762750" y="1600200"/>
            <a:ext cx="1676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trucks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F7400-66D4-4050-BE5E-AAD15F5C2354}"/>
              </a:ext>
            </a:extLst>
          </p:cNvPr>
          <p:cNvSpPr>
            <a:spLocks noGrp="1"/>
          </p:cNvSpPr>
          <p:nvPr/>
        </p:nvSpPr>
        <p:spPr>
          <a:xfrm>
            <a:off x="4953000" y="4933950"/>
            <a:ext cx="1676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stock_movements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F2C524-DFDB-423C-8D31-9F38119D9162}"/>
              </a:ext>
            </a:extLst>
          </p:cNvPr>
          <p:cNvSpPr>
            <a:spLocks noGrp="1"/>
          </p:cNvSpPr>
          <p:nvPr/>
        </p:nvSpPr>
        <p:spPr>
          <a:xfrm>
            <a:off x="5086350" y="542925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IN / OUT / ADJUST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1DCC6D-F19C-4D32-9E5F-CCF0A6F0C28D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3632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AB143-B94D-4D1A-862B-700BDCEFEB5D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Schema strength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94DD82-6F70-4731-B458-D1EFDB0A5CF6}"/>
              </a:ext>
            </a:extLst>
          </p:cNvPr>
          <p:cNvSpPr>
            <a:spLocks noGrp="1"/>
          </p:cNvSpPr>
          <p:nvPr/>
        </p:nvSpPr>
        <p:spPr>
          <a:xfrm>
            <a:off x="2571750" y="5848350"/>
            <a:ext cx="1676400" cy="32385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4 enum types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4CAEF4-8E81-42FF-8D93-DC6DEA58DD05}"/>
              </a:ext>
            </a:extLst>
          </p:cNvPr>
          <p:cNvSpPr>
            <a:spLocks noGrp="1"/>
          </p:cNvSpPr>
          <p:nvPr/>
        </p:nvSpPr>
        <p:spPr>
          <a:xfrm>
            <a:off x="4495800" y="5848350"/>
            <a:ext cx="16764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foreign keys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7B4359-D6AB-41D2-BD82-B7E20A45C783}"/>
              </a:ext>
            </a:extLst>
          </p:cNvPr>
          <p:cNvSpPr>
            <a:spLocks noGrp="1"/>
          </p:cNvSpPr>
          <p:nvPr/>
        </p:nvSpPr>
        <p:spPr>
          <a:xfrm>
            <a:off x="6419850" y="5848350"/>
            <a:ext cx="1676400" cy="32385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unique constraints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ABEBAB-49F0-42A7-B980-FA27DECED721}"/>
              </a:ext>
            </a:extLst>
          </p:cNvPr>
          <p:cNvSpPr>
            <a:spLocks noGrp="1"/>
          </p:cNvSpPr>
          <p:nvPr/>
        </p:nvSpPr>
        <p:spPr>
          <a:xfrm>
            <a:off x="8343900" y="5848350"/>
            <a:ext cx="1676400" cy="3238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9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date and role indexes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6D07B1-D299-431E-BB74-D40362D11CE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database/schema.sql and docs/class-diagram.md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0F16CA-8A8D-4D52-BEB0-CC590DAA6BF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919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">
            <a:extLst>
              <a:ext uri="{FF2B5EF4-FFF2-40B4-BE49-F238E27FC236}">
                <a16:creationId xmlns:a16="http://schemas.microsoft.com/office/drawing/2014/main" id="{72224D1A-F268-4E91-8F1D-D9DC4ABDCC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quality-marker">
            <a:extLst>
              <a:ext uri="{FF2B5EF4-FFF2-40B4-BE49-F238E27FC236}">
                <a16:creationId xmlns:a16="http://schemas.microsoft.com/office/drawing/2014/main" id="{DDA2C39C-7BCA-4600-BCD9-F4C90E2D3F0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4D8A4D"/>
          </a:solidFill>
          <a:ln w="0">
            <a:solidFill>
              <a:srgbClr val="4D8A4D"/>
            </a:solidFill>
            <a:prstDash val="solid"/>
          </a:ln>
        </p:spPr>
      </p:sp>
      <p:sp>
        <p:nvSpPr>
          <p:cNvPr id="3" name="kicker-quality-label">
            <a:extLst>
              <a:ext uri="{FF2B5EF4-FFF2-40B4-BE49-F238E27FC236}">
                <a16:creationId xmlns:a16="http://schemas.microsoft.com/office/drawing/2014/main" id="{07C8EE01-75D6-4B0D-AFD9-45AD48E923A1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ENGINEERING CONFIDENCE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624D2-7069-49BA-A700-9A17B4CCB91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76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project has guardrails where the business logic is most mature.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039EF-F1BA-45BD-BFBF-46233B7FD57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715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The local backend test run passed all service tests. The next quality step is route-level and browser-level coverage.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AA625-85F1-4617-AD22-DB699249D5B9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4933950" cy="272415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2228B-E4FE-485B-933F-3C20CB4A4F3C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Local backend test run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80D37-5967-4E13-A485-F3BAF4FFE467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DE8C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CDE8C8"/>
                </a:solidFill>
                <a:latin typeface="Aptos Display"/>
                <a:ea typeface="Aptos Display"/>
                <a:cs typeface="Aptos Display"/>
              </a:rPr>
              <a:t>13 / 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56CBC-7A28-4360-9ACB-BD31C8F7D6EB}"/>
              </a:ext>
            </a:extLst>
          </p:cNvPr>
          <p:cNvSpPr>
            <a:spLocks noGrp="1"/>
          </p:cNvSpPr>
          <p:nvPr/>
        </p:nvSpPr>
        <p:spPr>
          <a:xfrm>
            <a:off x="895350" y="3543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tests passing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F7EF1-554B-42D1-BA20-86E1BABA7194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4000500" cy="228600"/>
          </a:xfrm>
          <a:prstGeom prst="rect">
            <a:avLst/>
          </a:prstGeom>
          <a:solidFill>
            <a:srgbClr val="33413C"/>
          </a:solidFill>
          <a:ln w="0">
            <a:solidFill>
              <a:srgbClr val="33413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67C13-EB44-4919-AEBE-5C2503B780DF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4000500" cy="228600"/>
          </a:xfrm>
          <a:prstGeom prst="rect">
            <a:avLst/>
          </a:prstGeom>
          <a:solidFill>
            <a:srgbClr val="4D8A4D"/>
          </a:solidFill>
          <a:ln w="0">
            <a:solidFill>
              <a:srgbClr val="4D8A4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DF493-AE90-41B3-A991-774A941C4359}"/>
              </a:ext>
            </a:extLst>
          </p:cNvPr>
          <p:cNvSpPr>
            <a:spLocks noGrp="1"/>
          </p:cNvSpPr>
          <p:nvPr/>
        </p:nvSpPr>
        <p:spPr>
          <a:xfrm>
            <a:off x="895350" y="45148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8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8DA"/>
                </a:solidFill>
                <a:latin typeface="Aptos"/>
                <a:ea typeface="Aptos"/>
                <a:cs typeface="Aptos"/>
              </a:rPr>
              <a:t>stock service: 8 tests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5E200-82ED-4EEF-A779-A95C3B9383D1}"/>
              </a:ext>
            </a:extLst>
          </p:cNvPr>
          <p:cNvSpPr>
            <a:spLocks noGrp="1"/>
          </p:cNvSpPr>
          <p:nvPr/>
        </p:nvSpPr>
        <p:spPr>
          <a:xfrm>
            <a:off x="3048000" y="45148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8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8DA"/>
                </a:solidFill>
                <a:latin typeface="Aptos"/>
                <a:ea typeface="Aptos"/>
                <a:cs typeface="Aptos"/>
              </a:rPr>
              <a:t>transaction service: 5 tests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8FAA6D-C34A-433B-9435-76768387FE40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1809750" cy="51435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Auth boundary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E3081-66AC-423C-830B-A9F5B08730C5}"/>
              </a:ext>
            </a:extLst>
          </p:cNvPr>
          <p:cNvSpPr>
            <a:spLocks noGrp="1"/>
          </p:cNvSpPr>
          <p:nvPr/>
        </p:nvSpPr>
        <p:spPr>
          <a:xfrm>
            <a:off x="8248650" y="2466975"/>
            <a:ext cx="2762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JWT token verification and role authorization protect admin routes.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47A6A-465E-4491-8A81-9B290C8CAA90}"/>
              </a:ext>
            </a:extLst>
          </p:cNvPr>
          <p:cNvSpPr>
            <a:spLocks noGrp="1"/>
          </p:cNvSpPr>
          <p:nvPr/>
        </p:nvSpPr>
        <p:spPr>
          <a:xfrm>
            <a:off x="8001000" y="2657475"/>
            <a:ext cx="2476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64E3F0-2AA4-4A26-8A98-F3FF69B99A79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1809750" cy="5143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API contract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BCA305-B59A-42CF-AD45-880DCE77D558}"/>
              </a:ext>
            </a:extLst>
          </p:cNvPr>
          <p:cNvSpPr>
            <a:spLocks noGrp="1"/>
          </p:cNvSpPr>
          <p:nvPr/>
        </p:nvSpPr>
        <p:spPr>
          <a:xfrm>
            <a:off x="8248650" y="3362325"/>
            <a:ext cx="2762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Success and error responses use the same ok/message shape expected by the frontend.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255F13-B899-4192-A6F9-6782C0269196}"/>
              </a:ext>
            </a:extLst>
          </p:cNvPr>
          <p:cNvSpPr>
            <a:spLocks noGrp="1"/>
          </p:cNvSpPr>
          <p:nvPr/>
        </p:nvSpPr>
        <p:spPr>
          <a:xfrm>
            <a:off x="8001000" y="3552825"/>
            <a:ext cx="2476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699019-9EE5-4F13-BBA2-B0BED0EDFC69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1809750" cy="514350"/>
          </a:xfrm>
          <a:prstGeom prst="rect">
            <a:avLst/>
          </a:prstGeom>
          <a:solidFill>
            <a:srgbClr val="F2DFB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l">
              <a:defRPr sz="127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Error 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52060E-BAF2-4C23-A006-1C14EB3385C8}"/>
              </a:ext>
            </a:extLst>
          </p:cNvPr>
          <p:cNvSpPr>
            <a:spLocks noGrp="1"/>
          </p:cNvSpPr>
          <p:nvPr/>
        </p:nvSpPr>
        <p:spPr>
          <a:xfrm>
            <a:off x="8248650" y="4257675"/>
            <a:ext cx="2762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asyncHandler and centralized errorHandler reduce repeated try/catch route code.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CA275D-386C-4F56-A9C5-0888952D71AB}"/>
              </a:ext>
            </a:extLst>
          </p:cNvPr>
          <p:cNvSpPr>
            <a:spLocks noGrp="1"/>
          </p:cNvSpPr>
          <p:nvPr/>
        </p:nvSpPr>
        <p:spPr>
          <a:xfrm>
            <a:off x="8001000" y="4448175"/>
            <a:ext cx="24765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5AC17-80E3-48CB-A29F-AF231A1400D7}"/>
              </a:ext>
            </a:extLst>
          </p:cNvPr>
          <p:cNvSpPr>
            <a:spLocks noGrp="1"/>
          </p:cNvSpPr>
          <p:nvPr/>
        </p:nvSpPr>
        <p:spPr>
          <a:xfrm>
            <a:off x="6191250" y="5353050"/>
            <a:ext cx="1466850" cy="400050"/>
          </a:xfrm>
          <a:prstGeom prst="rect">
            <a:avLst/>
          </a:prstGeom>
          <a:solidFill>
            <a:srgbClr val="F0D5CF"/>
          </a:solidFill>
          <a:ln w="9525">
            <a:solidFill>
              <a:srgbClr val="C94A38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125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Remaining gap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BEC00F-4EC8-491C-B7D3-D452A637A26D}"/>
              </a:ext>
            </a:extLst>
          </p:cNvPr>
          <p:cNvSpPr>
            <a:spLocks noGrp="1"/>
          </p:cNvSpPr>
          <p:nvPr/>
        </p:nvSpPr>
        <p:spPr>
          <a:xfrm>
            <a:off x="7867650" y="54102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Route-level and browser-level tests are still the next reliability layer.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7EBDEA-ED2D-44BD-9083-E1FC0668D30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local npm test output, docs/improvement-report.md, backend middleware and routes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E8BA0B-2025-4A79-8601-FFA9375DBFC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272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18C1740F-A7AF-407E-B574-9E30FD900D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A"/>
          </a:solidFill>
          <a:ln w="0">
            <a:solidFill>
              <a:srgbClr val="F8F3EA"/>
            </a:solidFill>
            <a:prstDash val="solid"/>
          </a:ln>
        </p:spPr>
      </p:sp>
      <p:sp>
        <p:nvSpPr>
          <p:cNvPr id="2" name="kicker-roadmap-marker">
            <a:extLst>
              <a:ext uri="{FF2B5EF4-FFF2-40B4-BE49-F238E27FC236}">
                <a16:creationId xmlns:a16="http://schemas.microsoft.com/office/drawing/2014/main" id="{E1FDB366-C866-47D8-8932-8ACB74A1297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3" name="kicker-roadmap-label">
            <a:extLst>
              <a:ext uri="{FF2B5EF4-FFF2-40B4-BE49-F238E27FC236}">
                <a16:creationId xmlns:a16="http://schemas.microsoft.com/office/drawing/2014/main" id="{164DB921-97AD-4D4D-8160-EF8A6EDC676E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NEXT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D04EFF-08BA-48C8-82DD-44851AB227A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 next sprint should harden persistence before adding presentation-heavy features.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A94D7C-0842-4A48-A7EA-C5D5A804949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9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The project already has the repository boundary needed for a safer migration path: keep the service API stable while changing the storage adapter.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2CEC4D-B99E-437E-862F-1017F306C0B7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9334500" cy="28575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A7435B-AC65-4EFE-9FC3-0B134E28C855}"/>
              </a:ext>
            </a:extLst>
          </p:cNvPr>
          <p:cNvSpPr>
            <a:spLocks noGrp="1"/>
          </p:cNvSpPr>
          <p:nvPr/>
        </p:nvSpPr>
        <p:spPr>
          <a:xfrm>
            <a:off x="952500" y="3162300"/>
            <a:ext cx="342900" cy="3429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E4E3A-809B-4778-B12D-453CEA1E4FFA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FB8929-1584-409F-8488-080994F1AB00}"/>
              </a:ext>
            </a:extLst>
          </p:cNvPr>
          <p:cNvSpPr>
            <a:spLocks noGrp="1"/>
          </p:cNvSpPr>
          <p:nvPr/>
        </p:nvSpPr>
        <p:spPr>
          <a:xfrm>
            <a:off x="247650" y="3790950"/>
            <a:ext cx="1752600" cy="514350"/>
          </a:xfrm>
          <a:prstGeom prst="rect">
            <a:avLst/>
          </a:prstGeom>
          <a:solidFill>
            <a:srgbClr val="F2DFB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Move stock to PostgreSQL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B3AAE-C5C7-400A-BFAD-AE21AB7766E5}"/>
              </a:ext>
            </a:extLst>
          </p:cNvPr>
          <p:cNvSpPr>
            <a:spLocks noGrp="1"/>
          </p:cNvSpPr>
          <p:nvPr/>
        </p:nvSpPr>
        <p:spPr>
          <a:xfrm>
            <a:off x="228600" y="4438650"/>
            <a:ext cx="179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Keep StockItemService stable; replace CSV adapter behind the repository boundary.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A445D-F64E-4C8C-8717-69859667E194}"/>
              </a:ext>
            </a:extLst>
          </p:cNvPr>
          <p:cNvSpPr>
            <a:spLocks noGrp="1"/>
          </p:cNvSpPr>
          <p:nvPr/>
        </p:nvSpPr>
        <p:spPr>
          <a:xfrm>
            <a:off x="3286125" y="3162300"/>
            <a:ext cx="342900" cy="3429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F6E513-4B67-4854-A6F9-D5A1FBF41714}"/>
              </a:ext>
            </a:extLst>
          </p:cNvPr>
          <p:cNvSpPr>
            <a:spLocks noGrp="1"/>
          </p:cNvSpPr>
          <p:nvPr/>
        </p:nvSpPr>
        <p:spPr>
          <a:xfrm>
            <a:off x="3286125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D9454-F68B-4851-9FF1-9ECCE84327EB}"/>
              </a:ext>
            </a:extLst>
          </p:cNvPr>
          <p:cNvSpPr>
            <a:spLocks noGrp="1"/>
          </p:cNvSpPr>
          <p:nvPr/>
        </p:nvSpPr>
        <p:spPr>
          <a:xfrm>
            <a:off x="2581275" y="3790950"/>
            <a:ext cx="1752600" cy="514350"/>
          </a:xfrm>
          <a:prstGeom prst="rect">
            <a:avLst/>
          </a:prstGeom>
          <a:solidFill>
            <a:srgbClr val="DDE7F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Add route and browser tests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DCBA3-B118-4296-94F2-392E4E171170}"/>
              </a:ext>
            </a:extLst>
          </p:cNvPr>
          <p:cNvSpPr>
            <a:spLocks noGrp="1"/>
          </p:cNvSpPr>
          <p:nvPr/>
        </p:nvSpPr>
        <p:spPr>
          <a:xfrm>
            <a:off x="2562225" y="4438650"/>
            <a:ext cx="179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Cover auth, stock API, and the React admin flow with executable checks.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849B45-4461-4FD6-BD55-C51B187BCA4D}"/>
              </a:ext>
            </a:extLst>
          </p:cNvPr>
          <p:cNvSpPr>
            <a:spLocks noGrp="1"/>
          </p:cNvSpPr>
          <p:nvPr/>
        </p:nvSpPr>
        <p:spPr>
          <a:xfrm>
            <a:off x="5619750" y="3162300"/>
            <a:ext cx="342900" cy="3429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73AAD4-1814-47E4-BCE1-AFDCDF246B4E}"/>
              </a:ext>
            </a:extLst>
          </p:cNvPr>
          <p:cNvSpPr>
            <a:spLocks noGrp="1"/>
          </p:cNvSpPr>
          <p:nvPr/>
        </p:nvSpPr>
        <p:spPr>
          <a:xfrm>
            <a:off x="56197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D8C0B7-30BB-4F63-9EB2-A7D311145987}"/>
              </a:ext>
            </a:extLst>
          </p:cNvPr>
          <p:cNvSpPr>
            <a:spLocks noGrp="1"/>
          </p:cNvSpPr>
          <p:nvPr/>
        </p:nvSpPr>
        <p:spPr>
          <a:xfrm>
            <a:off x="4914900" y="3790950"/>
            <a:ext cx="1752600" cy="514350"/>
          </a:xfrm>
          <a:prstGeom prst="rect">
            <a:avLst/>
          </a:prstGeom>
          <a:solidFill>
            <a:srgbClr val="DDEDE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Deepen operating records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4C2D3A-9F61-497A-8AA4-0D522EA7AEEA}"/>
              </a:ext>
            </a:extLst>
          </p:cNvPr>
          <p:cNvSpPr>
            <a:spLocks noGrp="1"/>
          </p:cNvSpPr>
          <p:nvPr/>
        </p:nvSpPr>
        <p:spPr>
          <a:xfrm>
            <a:off x="4895850" y="4438650"/>
            <a:ext cx="179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Strengthen finance, attendance, and appointments validation and reporting.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19D790-5951-461E-A27C-661054A3D634}"/>
              </a:ext>
            </a:extLst>
          </p:cNvPr>
          <p:cNvSpPr>
            <a:spLocks noGrp="1"/>
          </p:cNvSpPr>
          <p:nvPr/>
        </p:nvSpPr>
        <p:spPr>
          <a:xfrm>
            <a:off x="7953375" y="3162300"/>
            <a:ext cx="342900" cy="3429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7D9B2D-FF47-43CA-9AF9-8F41FB10D53D}"/>
              </a:ext>
            </a:extLst>
          </p:cNvPr>
          <p:cNvSpPr>
            <a:spLocks noGrp="1"/>
          </p:cNvSpPr>
          <p:nvPr/>
        </p:nvSpPr>
        <p:spPr>
          <a:xfrm>
            <a:off x="7953375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AFD584-4017-4D6D-B29A-48CD1F80BF8F}"/>
              </a:ext>
            </a:extLst>
          </p:cNvPr>
          <p:cNvSpPr>
            <a:spLocks noGrp="1"/>
          </p:cNvSpPr>
          <p:nvPr/>
        </p:nvSpPr>
        <p:spPr>
          <a:xfrm>
            <a:off x="7248525" y="3790950"/>
            <a:ext cx="1752600" cy="514350"/>
          </a:xfrm>
          <a:prstGeom prst="rect">
            <a:avLst/>
          </a:prstGeom>
          <a:solidFill>
            <a:srgbClr val="DCE8DA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2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Printable records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0351D2-21AB-4108-9BCD-D461E493F083}"/>
              </a:ext>
            </a:extLst>
          </p:cNvPr>
          <p:cNvSpPr>
            <a:spLocks noGrp="1"/>
          </p:cNvSpPr>
          <p:nvPr/>
        </p:nvSpPr>
        <p:spPr>
          <a:xfrm>
            <a:off x="7229475" y="4438650"/>
            <a:ext cx="179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170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7C"/>
                </a:solidFill>
                <a:latin typeface="Aptos"/>
                <a:ea typeface="Aptos"/>
                <a:cs typeface="Aptos"/>
              </a:rPr>
              <a:t>Turn service history, attendance, and finance records into usable outputs.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CB641B-14CE-4427-AA84-DA726D3C5F70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3632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D9D1C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0D0E04-5752-46B2-810D-B0BF3F97B458}"/>
              </a:ext>
            </a:extLst>
          </p:cNvPr>
          <p:cNvSpPr>
            <a:spLocks noGrp="1"/>
          </p:cNvSpPr>
          <p:nvPr/>
        </p:nvSpPr>
        <p:spPr>
          <a:xfrm>
            <a:off x="800100" y="5867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Roadmap logic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8DFE58-4D61-40CF-82C6-064F083D6182}"/>
              </a:ext>
            </a:extLst>
          </p:cNvPr>
          <p:cNvSpPr>
            <a:spLocks noGrp="1"/>
          </p:cNvSpPr>
          <p:nvPr/>
        </p:nvSpPr>
        <p:spPr>
          <a:xfrm>
            <a:off x="2381250" y="5867400"/>
            <a:ext cx="781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Persistence first reduces risk; tests then protect the web workflows; printable records become more valuable once the data is reliable.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463BAA-750A-4639-AE53-4A9382EBA47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90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062"/>
                </a:solidFill>
                <a:latin typeface="Aptos"/>
                <a:ea typeface="Aptos"/>
                <a:cs typeface="Aptos"/>
              </a:rPr>
              <a:t>Source: README limitations, recommended next modules, and current repository boundary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B2505F-09E6-4B01-BBF0-090B4BCA4E1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7A70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70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893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765EE0BC-BFB0-4B85-9FF5-E6E3272EB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F11A01-F43B-4600-9056-D0F515906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191AD-50DB-427D-9E11-D8BBEC1178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190750"/>
          </a:xfrm>
          <a:prstGeom prst="rect">
            <a:avLst/>
          </a:prstGeom>
          <a:solidFill>
            <a:srgbClr val="1B2427"/>
          </a:solidFill>
          <a:ln w="0">
            <a:solidFill>
              <a:srgbClr val="1B2427"/>
            </a:solidFill>
            <a:prstDash val="solid"/>
          </a:ln>
        </p:spPr>
      </p:sp>
      <p:sp>
        <p:nvSpPr>
          <p:cNvPr id="4" name="kicker-takeaway-marker">
            <a:extLst>
              <a:ext uri="{FF2B5EF4-FFF2-40B4-BE49-F238E27FC236}">
                <a16:creationId xmlns:a16="http://schemas.microsoft.com/office/drawing/2014/main" id="{813CAEA4-62CB-4F3A-9CDC-4BE069F5D4B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4300" cy="11430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5" name="kicker-takeaway-label">
            <a:extLst>
              <a:ext uri="{FF2B5EF4-FFF2-40B4-BE49-F238E27FC236}">
                <a16:creationId xmlns:a16="http://schemas.microsoft.com/office/drawing/2014/main" id="{6F79B88E-92D9-4D44-A411-1D574D27FC2E}"/>
              </a:ext>
            </a:extLst>
          </p:cNvPr>
          <p:cNvSpPr>
            <a:spLocks noGrp="1"/>
          </p:cNvSpPr>
          <p:nvPr/>
        </p:nvSpPr>
        <p:spPr>
          <a:xfrm>
            <a:off x="800100" y="438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8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3EA"/>
                </a:solidFill>
                <a:latin typeface="Aptos"/>
                <a:ea typeface="Aptos"/>
                <a:cs typeface="Aptos"/>
              </a:rPr>
              <a:t>PROJECT TAKEAWAY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82A11-D0EA-425A-8AF5-F93CD0DF58A7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The project is defendable because it connects domain need, product workflow, and engineering 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3C93E-C713-4B2C-ABD9-4FF479AA1E21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971800" cy="1809750"/>
          </a:xfrm>
          <a:prstGeom prst="rect">
            <a:avLst/>
          </a:prstGeom>
          <a:solidFill>
            <a:srgbClr val="202B2D"/>
          </a:solidFill>
          <a:ln w="9525">
            <a:solidFill>
              <a:srgbClr val="3B474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558E2-BF73-44DB-A622-8CACA7EED24C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971800" cy="76200"/>
          </a:xfrm>
          <a:prstGeom prst="rect">
            <a:avLst/>
          </a:prstGeom>
          <a:solidFill>
            <a:srgbClr val="D9922B"/>
          </a:solidFill>
          <a:ln w="0">
            <a:solidFill>
              <a:srgbClr val="D9922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CC62F-C71F-4D68-AEEF-1F4025670116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Domain fit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E496E-1E36-4FCC-B18C-D19F23189BF3}"/>
              </a:ext>
            </a:extLst>
          </p:cNvPr>
          <p:cNvSpPr>
            <a:spLocks noGrp="1"/>
          </p:cNvSpPr>
          <p:nvPr/>
        </p:nvSpPr>
        <p:spPr>
          <a:xfrm>
            <a:off x="1009650" y="3638550"/>
            <a:ext cx="24003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DD5D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DD5D1"/>
                </a:solidFill>
                <a:latin typeface="Aptos"/>
                <a:ea typeface="Aptos"/>
                <a:cs typeface="Aptos"/>
              </a:rPr>
              <a:t>Built around real service-shop work: parts, workers, cash records, customers, trucks, and service dates.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E1F06-6CC5-42F4-AB3B-7AF433A02966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2971800" cy="1809750"/>
          </a:xfrm>
          <a:prstGeom prst="rect">
            <a:avLst/>
          </a:prstGeom>
          <a:solidFill>
            <a:srgbClr val="202B2D"/>
          </a:solidFill>
          <a:ln w="9525">
            <a:solidFill>
              <a:srgbClr val="3B474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DEEF2-CADB-41E5-8983-28246B3FD001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2971800" cy="76200"/>
          </a:xfrm>
          <a:prstGeom prst="rect">
            <a:avLst/>
          </a:prstGeom>
          <a:solidFill>
            <a:srgbClr val="2C9A8E"/>
          </a:solidFill>
          <a:ln w="0">
            <a:solidFill>
              <a:srgbClr val="2C9A8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505B99-2CDE-46C2-A5D2-02B23B557C56}"/>
              </a:ext>
            </a:extLst>
          </p:cNvPr>
          <p:cNvSpPr>
            <a:spLocks noGrp="1"/>
          </p:cNvSpPr>
          <p:nvPr/>
        </p:nvSpPr>
        <p:spPr>
          <a:xfrm>
            <a:off x="4686300" y="3143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Product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42023-DC23-4987-AF3F-B5FC79F671C7}"/>
              </a:ext>
            </a:extLst>
          </p:cNvPr>
          <p:cNvSpPr>
            <a:spLocks noGrp="1"/>
          </p:cNvSpPr>
          <p:nvPr/>
        </p:nvSpPr>
        <p:spPr>
          <a:xfrm>
            <a:off x="4686300" y="3638550"/>
            <a:ext cx="24003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DD5D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DD5D1"/>
                </a:solidFill>
                <a:latin typeface="Aptos"/>
                <a:ea typeface="Aptos"/>
                <a:cs typeface="Aptos"/>
              </a:rPr>
              <a:t>A protected browser flow already demonstrates the admin path and stock management actions.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233EA-F6DB-44DB-A729-330BD818A962}"/>
              </a:ext>
            </a:extLst>
          </p:cNvPr>
          <p:cNvSpPr>
            <a:spLocks noGrp="1"/>
          </p:cNvSpPr>
          <p:nvPr/>
        </p:nvSpPr>
        <p:spPr>
          <a:xfrm>
            <a:off x="8134350" y="2857500"/>
            <a:ext cx="2971800" cy="1809750"/>
          </a:xfrm>
          <a:prstGeom prst="rect">
            <a:avLst/>
          </a:prstGeom>
          <a:solidFill>
            <a:srgbClr val="202B2D"/>
          </a:solidFill>
          <a:ln w="9525">
            <a:solidFill>
              <a:srgbClr val="3B474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7AB0A-FEA1-48B9-AC55-CC1659EC7843}"/>
              </a:ext>
            </a:extLst>
          </p:cNvPr>
          <p:cNvSpPr>
            <a:spLocks noGrp="1"/>
          </p:cNvSpPr>
          <p:nvPr/>
        </p:nvSpPr>
        <p:spPr>
          <a:xfrm>
            <a:off x="8134350" y="2857500"/>
            <a:ext cx="2971800" cy="76200"/>
          </a:xfrm>
          <a:prstGeom prst="rect">
            <a:avLst/>
          </a:prstGeom>
          <a:solidFill>
            <a:srgbClr val="4267B2"/>
          </a:solidFill>
          <a:ln w="0">
            <a:solidFill>
              <a:srgbClr val="4267B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1E0F85-5786-404E-9C56-E5710AE59113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3EA"/>
                </a:solidFill>
                <a:latin typeface="Aptos Display"/>
                <a:ea typeface="Aptos Display"/>
                <a:cs typeface="Aptos Display"/>
              </a:rPr>
              <a:t>Engineering 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6D3B62-8482-4A58-BFFB-864641BE1312}"/>
              </a:ext>
            </a:extLst>
          </p:cNvPr>
          <p:cNvSpPr>
            <a:spLocks noGrp="1"/>
          </p:cNvSpPr>
          <p:nvPr/>
        </p:nvSpPr>
        <p:spPr>
          <a:xfrm>
            <a:off x="8362950" y="3638550"/>
            <a:ext cx="24003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DD5D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DD5D1"/>
                </a:solidFill>
                <a:latin typeface="Aptos"/>
                <a:ea typeface="Aptos"/>
                <a:cs typeface="Aptos"/>
              </a:rPr>
              <a:t>Routes, middleware, services, models, repositories, schema, and tests make the app extendable.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07D6A9-1F5F-43D2-91B2-E4B406980188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9810750" cy="9525"/>
          </a:xfrm>
          <a:prstGeom prst="rect">
            <a:avLst/>
          </a:prstGeom>
          <a:solidFill>
            <a:srgbClr val="3B4745"/>
          </a:solidFill>
          <a:ln w="0">
            <a:solidFill>
              <a:srgbClr val="3B474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6AA4FB-17F0-45DC-9A63-44254F3E835C}"/>
              </a:ext>
            </a:extLst>
          </p:cNvPr>
          <p:cNvSpPr>
            <a:spLocks noGrp="1"/>
          </p:cNvSpPr>
          <p:nvPr/>
        </p:nvSpPr>
        <p:spPr>
          <a:xfrm>
            <a:off x="2000250" y="5619750"/>
            <a:ext cx="7239000" cy="495300"/>
          </a:xfrm>
          <a:prstGeom prst="rect">
            <a:avLst/>
          </a:prstGeom>
          <a:solidFill>
            <a:srgbClr val="F8F3EA"/>
          </a:solidFill>
          <a:ln w="9525">
            <a:solidFill>
              <a:srgbClr val="F8F3EA"/>
            </a:solidFill>
            <a:prstDash val="solid"/>
          </a:ln>
        </p:spPr>
        <p:txBody>
          <a:bodyPr lIns="133350" tIns="114300" rIns="133350" bIns="114300" anchor="ctr"/>
          <a:lstStyle/>
          <a:p>
            <a:pPr algn="ctr">
              <a:defRPr sz="15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Strongest live demo: login -&gt; dashboard -&gt; stock CRUD + low-stock alert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B1BECC-4F73-468C-9BF2-D0394155BAE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BFC7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C7C4"/>
                </a:solidFill>
                <a:latin typeface="Aptos"/>
                <a:ea typeface="Aptos"/>
                <a:cs typeface="Aptos"/>
              </a:rPr>
              <a:t>Truck Service Management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8839C6-2EBA-422C-9C79-B65ABE88D1F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BFC7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7C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6171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Office PowerPoint</Application>
  <DocSecurity>0</DocSecurity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Albert Begu</cp:lastModifiedBy>
  <cp:revision>1</cp:revision>
  <dcterms:created xsi:type="dcterms:W3CDTF">2026-05-13T07:04:21Z</dcterms:created>
  <dcterms:modified xsi:type="dcterms:W3CDTF">2026-05-13T07:13:15Z</dcterms:modified>
</cp:coreProperties>
</file>